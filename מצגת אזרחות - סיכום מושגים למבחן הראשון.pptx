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פתיחה" id="{896a9cad-ff0b-d2ae-eff8-2ae13fad951c}">
          <p14:sldIdLst>
            <p14:sldId id="256"/>
            <p14:sldId id="257"/>
            <p14:sldId id="258"/>
          </p14:sldIdLst>
        </p14:section>
        <p14:section name="מדינת ישראל: רקע והכרזת העצמאות" id="{553c85d1-5fc5-303e-306a-05f6ef22fee9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שלטון העם והבחירות" id="{ab584e1b-dafc-08b8-05e8-ca3e127301d8}">
          <p14:sldIdLst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תרבות פוליטית דמוקרטית" id="{bb8587ec-f908-e3c0-f501-a70fe40d736f}">
          <p14:sldIdLst>
            <p14:sldId id="272"/>
            <p14:sldId id="273"/>
            <p14:sldId id="274"/>
            <p14:sldId id="275"/>
          </p14:sldIdLst>
        </p14:section>
        <p14:section name="הגבלת השלטון ושלטון החוק" id="{a02aeb6e-e9e0-a60e-7a8c-49bba65be7d0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זכויות אדם ואזרח" id="{391015cb-9ea1-bbee-1a1e-16ae7d6d210a}">
          <p14:sldIdLst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גישות חברתיות-כלכליות" id="{b3485ceb-b889-14a8-89bd-43c30e482abb}">
          <p14:sldIdLst>
            <p14:sldId id="296"/>
            <p14:sldId id="297"/>
            <p14:sldId id="298"/>
          </p14:sldIdLst>
        </p14:section>
        <p14:section name="גבולות הדמוקרטיה וביטחון" id="{49e00b43-5aa0-13e1-36e3-008b86bcaeee}">
          <p14:sldIdLst>
            <p14:sldId id="299"/>
            <p14:sldId id="300"/>
            <p14:sldId id="301"/>
            <p14:sldId id="302"/>
            <p14:sldId id="303"/>
          </p14:sldIdLst>
        </p14:section>
        <p14:section name="סיכום" id="{99c96e22-10d7-1189-bab3-c5dcb6ee2251}">
          <p14:sldIdLst>
            <p14:sldId id="3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0" y="6446520"/>
            <a:ext cx="7616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 מושגים למבחן הראשון • אזרחות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0"/>
            <a:ext cx="1537890" cy="109728"/>
          </a:xfrm>
          <a:prstGeom prst="rect">
            <a:avLst/>
          </a:prstGeom>
          <a:solidFill>
            <a:srgbClr val="7B5B3A"/>
          </a:solidFill>
          <a:ln w="12700">
            <a:solidFill>
              <a:srgbClr val="7B5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68242" y="5120640"/>
            <a:ext cx="1537890" cy="109728"/>
          </a:xfrm>
          <a:prstGeom prst="rect">
            <a:avLst/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79284" y="5120640"/>
            <a:ext cx="1537890" cy="10972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90327" y="5120640"/>
            <a:ext cx="1537890" cy="10972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01369" y="5120640"/>
            <a:ext cx="1537890" cy="109728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12411" y="5120640"/>
            <a:ext cx="1537890" cy="109728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23453" y="5120640"/>
            <a:ext cx="1537890" cy="109728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3716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rgbClr val="C9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אזרחות</a:t>
            </a:r>
            <a:endParaRPr lang="he-IL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920240"/>
            <a:ext cx="112772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 מושגים למבחן הראשון</a:t>
            </a:r>
            <a:endParaRPr lang="he-IL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10896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rgbClr val="C9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מחולק לפי קבוצות • לכל קבוצה צבע • הסבר, הסתייגויות ודוגמאות מבגרויות</a:t>
            </a:r>
            <a:endParaRPr lang="he-IL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93192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מבחן: 18.10</a:t>
            </a:r>
            <a:endParaRPr lang="he-IL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עונים על שאלת בגרות</a:t>
            </a:r>
            <a:endParaRPr lang="he-IL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7729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rgbClr val="5D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כמעט כל שאלה באזרחות בנויה מאותם שלושה שלבים. כך גם בנויות התשובות לדוגמה במצגת.</a:t>
            </a:r>
            <a:endParaRPr lang="he-IL" sz="1600" dirty="0"/>
          </a:p>
        </p:txBody>
      </p:sp>
      <p:sp>
        <p:nvSpPr>
          <p:cNvPr id="4" name="Shape 2"/>
          <p:cNvSpPr/>
          <p:nvPr/>
        </p:nvSpPr>
        <p:spPr>
          <a:xfrm>
            <a:off x="8158277" y="1645920"/>
            <a:ext cx="3576218" cy="3291840"/>
          </a:xfrm>
          <a:prstGeom prst="roundRect">
            <a:avLst>
              <a:gd name="adj" fmla="val 333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20095" y="1828800"/>
            <a:ext cx="685800" cy="685800"/>
          </a:xfrm>
          <a:prstGeom prst="ellipse">
            <a:avLst/>
          </a:prstGeom>
          <a:solidFill>
            <a:srgbClr val="1F24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820095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he-IL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341157" y="1828800"/>
            <a:ext cx="23417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2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ציין</a:t>
            </a:r>
            <a:endParaRPr lang="he-IL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8341157" y="2697480"/>
            <a:ext cx="32104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כותבים רק את שם המושג.</a:t>
            </a:r>
            <a:endParaRPr lang="he-IL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341157" y="3657600"/>
            <a:ext cx="321045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400" i="1" dirty="0">
                <a:solidFill>
                  <a:srgbClr val="5D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לדוגמה: "העדפה מתקנת"</a:t>
            </a:r>
            <a:endParaRPr lang="he-IL" sz="1400" dirty="0"/>
          </a:p>
        </p:txBody>
      </p:sp>
      <p:sp>
        <p:nvSpPr>
          <p:cNvPr id="10" name="Shape 8"/>
          <p:cNvSpPr/>
          <p:nvPr/>
        </p:nvSpPr>
        <p:spPr>
          <a:xfrm>
            <a:off x="4307738" y="1645920"/>
            <a:ext cx="3576218" cy="3291840"/>
          </a:xfrm>
          <a:prstGeom prst="roundRect">
            <a:avLst>
              <a:gd name="adj" fmla="val 333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69557" y="1828800"/>
            <a:ext cx="685800" cy="685800"/>
          </a:xfrm>
          <a:prstGeom prst="ellipse">
            <a:avLst/>
          </a:prstGeom>
          <a:solidFill>
            <a:srgbClr val="1F243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69557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he-IL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490618" y="1828800"/>
            <a:ext cx="23417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2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הצג</a:t>
            </a:r>
            <a:endParaRPr lang="he-IL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490618" y="2697480"/>
            <a:ext cx="32104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כותבים את ההגדרה המלאה של המושג, בלי קשר לקטע.</a:t>
            </a:r>
            <a:endParaRPr lang="he-IL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490618" y="3657600"/>
            <a:ext cx="321045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400" i="1" dirty="0">
                <a:solidFill>
                  <a:srgbClr val="5D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לדוגמה: "הענקת יחס מועדף לקבוצה שקופחה, כדי לצמצם פערים, לזמן מוגבל"</a:t>
            </a:r>
            <a:endParaRPr lang="he-IL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1645920"/>
            <a:ext cx="3576218" cy="3291840"/>
          </a:xfrm>
          <a:prstGeom prst="roundRect">
            <a:avLst>
              <a:gd name="adj" fmla="val 333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19018" y="1828800"/>
            <a:ext cx="685800" cy="685800"/>
          </a:xfrm>
          <a:prstGeom prst="ellipse">
            <a:avLst/>
          </a:prstGeom>
          <a:solidFill>
            <a:srgbClr val="1F243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119018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he-IL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1828800"/>
            <a:ext cx="23417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2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הסבר</a:t>
            </a:r>
            <a:endParaRPr lang="he-IL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2697480"/>
            <a:ext cx="32104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מקשרים את ההגדרה לקטע: מה בדיוק בקטע מראה את המושג (רצוי לצטט).</a:t>
            </a:r>
            <a:endParaRPr lang="he-IL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657600"/>
            <a:ext cx="321045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400" i="1" dirty="0">
                <a:solidFill>
                  <a:srgbClr val="5D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לדוגמה: "הקבוצה המקופחת היא… היחס המועדף הוא… וזה לזמן מוגבל כי…"</a:t>
            </a:r>
            <a:endParaRPr lang="he-IL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5257800"/>
            <a:ext cx="11277295" cy="777240"/>
          </a:xfrm>
          <a:prstGeom prst="roundRect">
            <a:avLst>
              <a:gd name="adj" fmla="val 11765"/>
            </a:avLst>
          </a:prstGeom>
          <a:solidFill>
            <a:srgbClr val="FFF7D6"/>
          </a:solidFill>
          <a:ln w="12700">
            <a:solidFill>
              <a:srgbClr val="E8C547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7295" y="5500116"/>
            <a:ext cx="292608" cy="292608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594360" y="5257800"/>
            <a:ext cx="105457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שימו לב לדקויות בשאלה: אם כתוב "פנה לבג"ץ" זה מנגנון פיקוח פורמלי, ואם "פרסם בעיתון" זה בלתי פורמלי. מילה אחת בקטע מכריעה את התשובה.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 הנושאים: 7 קבוצות, 7 צבעים</a:t>
            </a:r>
            <a:endParaRPr lang="he-IL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5D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שקופית במצגת מסומנת בצבע ובתגית של הקבוצה שלה (בפינה השמאלית העליונה).</a:t>
            </a:r>
            <a:endParaRPr lang="he-IL" sz="1500" dirty="0"/>
          </a:p>
        </p:txBody>
      </p:sp>
      <p:sp>
        <p:nvSpPr>
          <p:cNvPr id="4" name="Shape 2"/>
          <p:cNvSpPr/>
          <p:nvPr/>
        </p:nvSpPr>
        <p:spPr>
          <a:xfrm>
            <a:off x="6233008" y="1463040"/>
            <a:ext cx="5501488" cy="1051560"/>
          </a:xfrm>
          <a:prstGeom prst="roundRect">
            <a:avLst>
              <a:gd name="adj" fmla="val 10435"/>
            </a:avLst>
          </a:prstGeom>
          <a:solidFill>
            <a:srgbClr val="F3ECE4"/>
          </a:solidFill>
          <a:ln w="12700">
            <a:solidFill>
              <a:srgbClr val="F3EC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57255" y="1691640"/>
            <a:ext cx="594360" cy="594360"/>
          </a:xfrm>
          <a:prstGeom prst="ellipse">
            <a:avLst/>
          </a:prstGeom>
          <a:solidFill>
            <a:srgbClr val="7B5B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3559" y="1837944"/>
            <a:ext cx="301752" cy="3017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370168" y="1536192"/>
            <a:ext cx="449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7B5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מדינת ישראל: רקע והכרזת העצמאות</a:t>
            </a:r>
            <a:endParaRPr lang="he-IL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370168" y="1920240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החלטה 181 • שלושת חלקי ההכרזה • הצדקות • פניות • מאפיינים יהודיים ודמוקרטיים</a:t>
            </a:r>
            <a:endParaRPr lang="he-IL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463040"/>
            <a:ext cx="5501488" cy="1051560"/>
          </a:xfrm>
          <a:prstGeom prst="roundRect">
            <a:avLst>
              <a:gd name="adj" fmla="val 10435"/>
            </a:avLst>
          </a:prstGeom>
          <a:solidFill>
            <a:srgbClr val="E7EFFA"/>
          </a:solidFill>
          <a:ln w="12700">
            <a:solidFill>
              <a:srgbClr val="E7EFF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81448" y="1691640"/>
            <a:ext cx="594360" cy="594360"/>
          </a:xfrm>
          <a:prstGeom prst="ellipse">
            <a:avLst/>
          </a:prstGeom>
          <a:solidFill>
            <a:srgbClr val="1F5FA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752" y="183794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94360" y="1536192"/>
            <a:ext cx="449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5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שלטון העם והבחירות</a:t>
            </a:r>
            <a:endParaRPr lang="he-IL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94360" y="1920240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שלטון העם • 5 תנאים לבחירות • שיטת הבחירות • הכרעת הרוב • עריצות הרוב</a:t>
            </a:r>
            <a:endParaRPr lang="he-IL" sz="1300" dirty="0"/>
          </a:p>
        </p:txBody>
      </p:sp>
      <p:sp>
        <p:nvSpPr>
          <p:cNvPr id="14" name="Shape 10"/>
          <p:cNvSpPr/>
          <p:nvPr/>
        </p:nvSpPr>
        <p:spPr>
          <a:xfrm>
            <a:off x="6233008" y="2670048"/>
            <a:ext cx="5501488" cy="1051560"/>
          </a:xfrm>
          <a:prstGeom prst="roundRect">
            <a:avLst>
              <a:gd name="adj" fmla="val 10435"/>
            </a:avLst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957255" y="2898648"/>
            <a:ext cx="594360" cy="594360"/>
          </a:xfrm>
          <a:prstGeom prst="ellipse">
            <a:avLst/>
          </a:prstGeom>
          <a:solidFill>
            <a:srgbClr val="1E844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3559" y="3044952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70168" y="2743200"/>
            <a:ext cx="449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תרבות פוליטית דמוקרטית</a:t>
            </a:r>
            <a:endParaRPr lang="he-IL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370168" y="3127248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סובלנות • פלורליזם • הסכמיות</a:t>
            </a:r>
            <a:endParaRPr lang="he-IL" sz="1300" dirty="0"/>
          </a:p>
        </p:txBody>
      </p:sp>
      <p:sp>
        <p:nvSpPr>
          <p:cNvPr id="19" name="Shape 14"/>
          <p:cNvSpPr/>
          <p:nvPr/>
        </p:nvSpPr>
        <p:spPr>
          <a:xfrm>
            <a:off x="457200" y="2670048"/>
            <a:ext cx="5501488" cy="1051560"/>
          </a:xfrm>
          <a:prstGeom prst="roundRect">
            <a:avLst>
              <a:gd name="adj" fmla="val 10435"/>
            </a:avLst>
          </a:prstGeom>
          <a:solidFill>
            <a:srgbClr val="F1E8F6"/>
          </a:solidFill>
          <a:ln w="12700">
            <a:solidFill>
              <a:srgbClr val="F1E8F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181448" y="2898648"/>
            <a:ext cx="594360" cy="594360"/>
          </a:xfrm>
          <a:prstGeom prst="ellipse">
            <a:avLst/>
          </a:prstGeom>
          <a:solidFill>
            <a:srgbClr val="6C348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7752" y="3044952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94360" y="2743200"/>
            <a:ext cx="449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הגבלת השלטון ושלטון החוק</a:t>
            </a:r>
            <a:endParaRPr lang="he-IL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594360" y="3127248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הגבלת השלטון • הפרדת רשויות • מנגנוני פיקוח • שלטון החוק • עבריינות • פקודה בלתי חוקית</a:t>
            </a:r>
            <a:endParaRPr lang="he-IL" sz="1300" dirty="0"/>
          </a:p>
        </p:txBody>
      </p:sp>
      <p:sp>
        <p:nvSpPr>
          <p:cNvPr id="24" name="Shape 18"/>
          <p:cNvSpPr/>
          <p:nvPr/>
        </p:nvSpPr>
        <p:spPr>
          <a:xfrm>
            <a:off x="6233008" y="3877056"/>
            <a:ext cx="5501488" cy="1051560"/>
          </a:xfrm>
          <a:prstGeom prst="roundRect">
            <a:avLst>
              <a:gd name="adj" fmla="val 10435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957255" y="4105656"/>
            <a:ext cx="594360" cy="594360"/>
          </a:xfrm>
          <a:prstGeom prst="ellipse">
            <a:avLst/>
          </a:prstGeom>
          <a:solidFill>
            <a:srgbClr val="B03A2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3559" y="4251960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370168" y="3950208"/>
            <a:ext cx="449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זכויות אדם ואזרח</a:t>
            </a:r>
            <a:endParaRPr lang="he-IL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6370168" y="4334256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זכויות טבעיות • חירות ושוויון • אפליה / הבחנה / העדפה מתקנת • זכויות פוליטיות, חברתיות-כלכליות, קבוצתיות</a:t>
            </a:r>
            <a:endParaRPr lang="he-IL" sz="1300" dirty="0"/>
          </a:p>
        </p:txBody>
      </p:sp>
      <p:sp>
        <p:nvSpPr>
          <p:cNvPr id="29" name="Shape 22"/>
          <p:cNvSpPr/>
          <p:nvPr/>
        </p:nvSpPr>
        <p:spPr>
          <a:xfrm>
            <a:off x="457200" y="3877056"/>
            <a:ext cx="5501488" cy="1051560"/>
          </a:xfrm>
          <a:prstGeom prst="roundRect">
            <a:avLst>
              <a:gd name="adj" fmla="val 10435"/>
            </a:avLst>
          </a:prstGeom>
          <a:solidFill>
            <a:srgbClr val="FCEFE3"/>
          </a:solidFill>
          <a:ln w="12700">
            <a:solidFill>
              <a:srgbClr val="FCEFE3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5181448" y="4105656"/>
            <a:ext cx="594360" cy="594360"/>
          </a:xfrm>
          <a:prstGeom prst="ellipse">
            <a:avLst/>
          </a:prstGeom>
          <a:solidFill>
            <a:srgbClr val="CA6F1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7752" y="4251960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94360" y="3950208"/>
            <a:ext cx="449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CA6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גישות חברתיות-כלכליות</a:t>
            </a:r>
            <a:endParaRPr lang="he-IL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594360" y="4334256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הגישה הניאו-ליברלית מול הגישה הסוציאל-דמוקרטית</a:t>
            </a:r>
            <a:endParaRPr lang="he-IL" sz="1300" dirty="0"/>
          </a:p>
        </p:txBody>
      </p:sp>
      <p:sp>
        <p:nvSpPr>
          <p:cNvPr id="34" name="Shape 26"/>
          <p:cNvSpPr/>
          <p:nvPr/>
        </p:nvSpPr>
        <p:spPr>
          <a:xfrm>
            <a:off x="457200" y="5084064"/>
            <a:ext cx="11277295" cy="1051560"/>
          </a:xfrm>
          <a:prstGeom prst="roundRect">
            <a:avLst>
              <a:gd name="adj" fmla="val 10435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10957255" y="5312664"/>
            <a:ext cx="594360" cy="594360"/>
          </a:xfrm>
          <a:prstGeom prst="ellipse">
            <a:avLst/>
          </a:prstGeom>
          <a:solidFill>
            <a:srgbClr val="34495E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3559" y="5458968"/>
            <a:ext cx="301752" cy="30175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594360" y="5157216"/>
            <a:ext cx="102714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גבולות הדמוקרטיה וביטחון</a:t>
            </a:r>
            <a:endParaRPr lang="he-IL" sz="1700" dirty="0"/>
          </a:p>
        </p:txBody>
      </p:sp>
      <p:sp>
        <p:nvSpPr>
          <p:cNvPr id="38" name="Text 29"/>
          <p:cNvSpPr txBox="1"/>
          <p:nvPr/>
        </p:nvSpPr>
        <p:spPr>
          <a:xfrm>
            <a:off x="594360" y="5541264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דמוקרטיה אבסולוטית מול מתגוננת • סעיף 7א • תקנות שעת חירום • מעצר מנהלי</a:t>
            </a:r>
            <a:endParaRPr lang="he-IL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7B5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914400"/>
            <a:ext cx="1463040" cy="1463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1455" y="128016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960120"/>
            <a:ext cx="90827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קבוצה 1</a:t>
            </a:r>
            <a:endParaRPr lang="he-IL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371600"/>
            <a:ext cx="908273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מדינת ישראל: רקע והכרזת העצמאות</a:t>
            </a:r>
            <a:endParaRPr lang="he-IL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880360"/>
            <a:ext cx="1127729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בפרק הזה:</a:t>
            </a:r>
            <a:endParaRPr lang="he-IL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91840"/>
            <a:ext cx="11277295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רקע: החלטה 181 של האו"ם (תוכנית החלוקה)</a:t>
            </a:r>
            <a:endParaRPr lang="he-IL" sz="18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שלושת החלקים של הכרזת העצמאות</a:t>
            </a:r>
            <a:endParaRPr lang="he-IL" sz="18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ההצדקות להקמת המדינה: היסטוריות, בינלאומיות, טבעית</a:t>
            </a:r>
            <a:endParaRPr lang="he-IL" sz="18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החלק המעשי והפניות לגורמים שונים</a:t>
            </a:r>
            <a:endParaRPr lang="he-IL" sz="18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מאפיינים יהודיים ודמוקרטיים בהכרזה</a:t>
            </a:r>
            <a:endParaRPr lang="he-IL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7B5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הרקע והמבנה של הכרזת העצמאות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7B5B3A"/>
          </a:solidFill>
          <a:ln w="12700">
            <a:solidFill>
              <a:srgbClr val="7B5B3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הכרזת העצמאות  ›  רקע</a:t>
            </a:r>
            <a:endParaRPr lang="he-IL" sz="1200" dirty="0"/>
          </a:p>
        </p:txBody>
      </p:sp>
      <p:sp>
        <p:nvSpPr>
          <p:cNvPr id="6" name="Shape 3"/>
          <p:cNvSpPr/>
          <p:nvPr/>
        </p:nvSpPr>
        <p:spPr>
          <a:xfrm>
            <a:off x="6339535" y="118872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F3ECE4"/>
          </a:solidFill>
          <a:ln w="12700">
            <a:solidFill>
              <a:srgbClr val="F3ECE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76695" y="129844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7B5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החלטה 181 של האו"ם (כ"ט בנובמבר 1947)</a:t>
            </a:r>
            <a:endParaRPr lang="he-IL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76695" y="1728216"/>
            <a:ext cx="512064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עצרת האו"ם החליטה להקים בשטח המנדט שנותר במערב א"י מדינה יהודית ומדינה ערבית.</a:t>
            </a:r>
            <a:endParaRPr lang="he-IL" sz="1400" dirty="0"/>
          </a:p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היישוב היהודי קיבל את ההחלטה. ההנהגה הערבית דחתה אותה ופתחה במאבק מזוין, ומכאן פרצה מלחמת העצמאות.</a:t>
            </a:r>
            <a:endParaRPr lang="he-IL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5577840" cy="2286000"/>
          </a:xfrm>
          <a:prstGeom prst="roundRect">
            <a:avLst>
              <a:gd name="adj" fmla="val 4800"/>
            </a:avLst>
          </a:prstGeom>
          <a:solidFill>
            <a:srgbClr val="F3ECE4"/>
          </a:solidFill>
          <a:ln w="12700">
            <a:solidFill>
              <a:srgbClr val="F3ECE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29844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7B5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הכרזת העצמאות: עובדות</a:t>
            </a:r>
            <a:endParaRPr lang="he-IL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1728216"/>
            <a:ext cx="530352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מי: </a:t>
            </a:r>
            <a:pPr rtl="1" algn="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דוד בן-גוריון וחברי מועצת העם (נציגי היישוב)</a:t>
            </a:r>
            <a:endParaRPr lang="he-IL" sz="1400" dirty="0"/>
          </a:p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מתי: </a:t>
            </a:r>
            <a:pPr rtl="1" algn="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ה' באייר תש"ח, 14.5.1948, בעיצומה של מלחמת העצמאות</a:t>
            </a:r>
            <a:endParaRPr lang="he-IL" sz="1400" dirty="0"/>
          </a:p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איפה: </a:t>
            </a:r>
            <a:pPr rtl="1" algn="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בתל אביב (ירושלים הייתה במצור)</a:t>
            </a:r>
            <a:endParaRPr lang="he-IL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657600"/>
            <a:ext cx="1127729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שלושת החלקים של ההכרזה</a:t>
            </a:r>
            <a:endParaRPr lang="he-IL" sz="1800" dirty="0"/>
          </a:p>
        </p:txBody>
      </p:sp>
      <p:sp>
        <p:nvSpPr>
          <p:cNvPr id="13" name="Shape 10"/>
          <p:cNvSpPr/>
          <p:nvPr/>
        </p:nvSpPr>
        <p:spPr>
          <a:xfrm>
            <a:off x="8158277" y="4114800"/>
            <a:ext cx="3576218" cy="1371600"/>
          </a:xfrm>
          <a:prstGeom prst="roundRect">
            <a:avLst>
              <a:gd name="adj" fmla="val 8000"/>
            </a:avLst>
          </a:prstGeom>
          <a:solidFill>
            <a:srgbClr val="7B5B3A"/>
          </a:solidFill>
          <a:ln w="12700">
            <a:solidFill>
              <a:srgbClr val="7B5B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95437" y="4206240"/>
            <a:ext cx="33018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חלק היסטורי</a:t>
            </a:r>
            <a:endParaRPr lang="he-IL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295437" y="4663440"/>
            <a:ext cx="330189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ההצדקות (הלגיטימציה) להקמת המדינה</a:t>
            </a:r>
            <a:endParaRPr lang="he-IL" sz="1400" dirty="0"/>
          </a:p>
        </p:txBody>
      </p:sp>
      <p:sp>
        <p:nvSpPr>
          <p:cNvPr id="16" name="Shape 13"/>
          <p:cNvSpPr/>
          <p:nvPr/>
        </p:nvSpPr>
        <p:spPr>
          <a:xfrm>
            <a:off x="4307738" y="4114800"/>
            <a:ext cx="3576218" cy="1371600"/>
          </a:xfrm>
          <a:prstGeom prst="roundRect">
            <a:avLst>
              <a:gd name="adj" fmla="val 8000"/>
            </a:avLst>
          </a:prstGeom>
          <a:solidFill>
            <a:srgbClr val="7B5B3A"/>
          </a:solidFill>
          <a:ln w="12700">
            <a:solidFill>
              <a:srgbClr val="7B5B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444898" y="4206240"/>
            <a:ext cx="33018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חלק מעשי (אופרטיבי)</a:t>
            </a:r>
            <a:endParaRPr lang="he-IL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4444898" y="4663440"/>
            <a:ext cx="330189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ההכרזה עצמה + מוסדות זמניים + בחירות וחוקה</a:t>
            </a:r>
            <a:endParaRPr lang="he-IL" sz="1400" dirty="0"/>
          </a:p>
        </p:txBody>
      </p:sp>
      <p:sp>
        <p:nvSpPr>
          <p:cNvPr id="19" name="Shape 16"/>
          <p:cNvSpPr/>
          <p:nvPr/>
        </p:nvSpPr>
        <p:spPr>
          <a:xfrm>
            <a:off x="457200" y="4114800"/>
            <a:ext cx="3576218" cy="1371600"/>
          </a:xfrm>
          <a:prstGeom prst="roundRect">
            <a:avLst>
              <a:gd name="adj" fmla="val 8000"/>
            </a:avLst>
          </a:prstGeom>
          <a:solidFill>
            <a:srgbClr val="7B5B3A"/>
          </a:solidFill>
          <a:ln w="12700">
            <a:solidFill>
              <a:srgbClr val="7B5B3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4206240"/>
            <a:ext cx="33018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חלק הצהרתי</a:t>
            </a:r>
            <a:endParaRPr lang="he-IL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4663440"/>
            <a:ext cx="330189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אופי המדינה ועקרונותיה + פניות לגורמים שונים</a:t>
            </a:r>
            <a:endParaRPr lang="he-IL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5669280"/>
            <a:ext cx="11277295" cy="548640"/>
          </a:xfrm>
          <a:prstGeom prst="roundRect">
            <a:avLst>
              <a:gd name="adj" fmla="val 16667"/>
            </a:avLst>
          </a:prstGeom>
          <a:solidFill>
            <a:srgbClr val="FFF7D6"/>
          </a:solidFill>
          <a:ln w="12700">
            <a:solidFill>
              <a:srgbClr val="E8C547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5797296"/>
            <a:ext cx="292608" cy="292608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94360" y="566928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לזכירה: היסטורי ← מעשי ← הצהרתי. קודם "למה מגיע לנו", אחר כך "מה עושים", ובסוף "איזו מדינה נהיה".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7B5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החלק ההיסטורי: ההצדקות להקמת המדינה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7B5B3A"/>
          </a:solidFill>
          <a:ln w="12700">
            <a:solidFill>
              <a:srgbClr val="7B5B3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הכרזת העצמאות  ›  הצדקות</a:t>
            </a:r>
            <a:endParaRPr lang="he-IL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5156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החלק הפותח של ההכרזה, שמבסס את הלגיטימציה של העם היהודי להקים מדינת לאום ריבונית בארץ ישראל. יש שלושה סוגי הצדקות:</a:t>
            </a:r>
            <a:endParaRPr lang="he-IL" sz="1600" dirty="0"/>
          </a:p>
        </p:txBody>
      </p:sp>
      <p:sp>
        <p:nvSpPr>
          <p:cNvPr id="7" name="Shape 4"/>
          <p:cNvSpPr/>
          <p:nvPr/>
        </p:nvSpPr>
        <p:spPr>
          <a:xfrm>
            <a:off x="8158277" y="1828800"/>
            <a:ext cx="3576218" cy="3749040"/>
          </a:xfrm>
          <a:prstGeom prst="roundRect">
            <a:avLst>
              <a:gd name="adj" fmla="val 3068"/>
            </a:avLst>
          </a:prstGeom>
          <a:solidFill>
            <a:srgbClr val="F3ECE4"/>
          </a:solidFill>
          <a:ln w="12700">
            <a:solidFill>
              <a:srgbClr val="F3ECE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95437" y="1938528"/>
            <a:ext cx="33018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7B5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  הצדקות היסטוריות</a:t>
            </a:r>
            <a:endParaRPr lang="he-IL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95437" y="2368296"/>
            <a:ext cx="3301898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בארץ ישראל העם קם, התעצב ויצר נכסי תרבות, ובראשם התנ"ך</a:t>
            </a:r>
            <a:endParaRPr lang="he-IL" sz="1400" dirty="0"/>
          </a:p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גם בגלות העם המשיך לקוות ולשאוף לשוב לארץ</a:t>
            </a:r>
            <a:endParaRPr lang="he-IL" sz="1400" dirty="0"/>
          </a:p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העליות בדורות האחרונים הקימו יישוב גדול ומבוסס</a:t>
            </a:r>
            <a:endParaRPr lang="he-IL" sz="1400" dirty="0"/>
          </a:p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השואה הוכיחה שצריך מדינה יהודית כפתרון לאנטישמיות</a:t>
            </a:r>
            <a:endParaRPr lang="he-IL" sz="1400" dirty="0"/>
          </a:p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השתתפות היישוב במלחמת העולם השנייה</a:t>
            </a:r>
            <a:endParaRPr lang="he-IL" sz="1400" dirty="0"/>
          </a:p>
        </p:txBody>
      </p:sp>
      <p:sp>
        <p:nvSpPr>
          <p:cNvPr id="10" name="Shape 7"/>
          <p:cNvSpPr/>
          <p:nvPr/>
        </p:nvSpPr>
        <p:spPr>
          <a:xfrm>
            <a:off x="4307738" y="1828800"/>
            <a:ext cx="3576218" cy="3749040"/>
          </a:xfrm>
          <a:prstGeom prst="roundRect">
            <a:avLst>
              <a:gd name="adj" fmla="val 3068"/>
            </a:avLst>
          </a:prstGeom>
          <a:solidFill>
            <a:srgbClr val="F3ECE4"/>
          </a:solidFill>
          <a:ln w="12700">
            <a:solidFill>
              <a:srgbClr val="F3ECE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44898" y="1938528"/>
            <a:ext cx="33018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7B5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הצדקות בינלאומיות (משפטיות)</a:t>
            </a:r>
            <a:endParaRPr lang="he-IL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4444898" y="2368296"/>
            <a:ext cx="3301898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הכרה רשמית של מדינות וגופים בינלאומיים בזכות העם היהודי למדינה בארץ ישראל:</a:t>
            </a:r>
            <a:endParaRPr lang="he-IL" sz="1400" dirty="0"/>
          </a:p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הצהרת בלפור </a:t>
            </a:r>
            <a:pPr rtl="1" algn="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(1917)</a:t>
            </a:r>
            <a:endParaRPr lang="he-IL" sz="1400" dirty="0"/>
          </a:p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כתב המנדט </a:t>
            </a:r>
            <a:pPr rtl="1" algn="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(1922)</a:t>
            </a:r>
            <a:endParaRPr lang="he-IL" sz="1400" dirty="0"/>
          </a:p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החלטה 181 </a:t>
            </a:r>
            <a:pPr rtl="1" algn="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 האו"ם (1947)</a:t>
            </a:r>
            <a:endParaRPr lang="he-IL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1828800"/>
            <a:ext cx="3576218" cy="3749040"/>
          </a:xfrm>
          <a:prstGeom prst="roundRect">
            <a:avLst>
              <a:gd name="adj" fmla="val 3068"/>
            </a:avLst>
          </a:prstGeom>
          <a:solidFill>
            <a:srgbClr val="F3ECE4"/>
          </a:solidFill>
          <a:ln w="12700">
            <a:solidFill>
              <a:srgbClr val="F3ECE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1938528"/>
            <a:ext cx="33018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7B5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  הצדקה טבעית</a:t>
            </a:r>
            <a:endParaRPr lang="he-IL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2368296"/>
            <a:ext cx="3301898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הזכות הטבעית של כל עם להגדרה עצמית, כלומר להקים מדינה משלו.</a:t>
            </a:r>
            <a:endParaRPr lang="he-IL" sz="1400" dirty="0"/>
          </a:p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תלויה בהיסטוריה או בהחלטה של אף גוף.</a:t>
            </a:r>
            <a:endParaRPr lang="he-IL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5715000"/>
            <a:ext cx="11277295" cy="566928"/>
          </a:xfrm>
          <a:prstGeom prst="roundRect">
            <a:avLst>
              <a:gd name="adj" fmla="val 16129"/>
            </a:avLst>
          </a:prstGeom>
          <a:solidFill>
            <a:srgbClr val="FFF7D6"/>
          </a:solidFill>
          <a:ln w="12700">
            <a:solidFill>
              <a:srgbClr val="E8C547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5852160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94360" y="571500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מזהים? מופיע עבר או סבל של העם ← היסטורית. מופיע מסמך או גוף בינלאומי ← בינלאומית. מופיע "ככל עם" ← טבעית.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7B5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החלק המעשי והפניות לגורמים שונים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7B5B3A"/>
          </a:solidFill>
          <a:ln w="12700">
            <a:solidFill>
              <a:srgbClr val="7B5B3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הכרזת העצמאות  ›  מעשי</a:t>
            </a:r>
            <a:endParaRPr lang="he-IL" sz="1200" dirty="0"/>
          </a:p>
        </p:txBody>
      </p:sp>
      <p:sp>
        <p:nvSpPr>
          <p:cNvPr id="6" name="Shape 3"/>
          <p:cNvSpPr/>
          <p:nvPr/>
        </p:nvSpPr>
        <p:spPr>
          <a:xfrm>
            <a:off x="6613855" y="118872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3ECE4"/>
          </a:solidFill>
          <a:ln w="12700">
            <a:solidFill>
              <a:srgbClr val="F3ECE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51015" y="129844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7B5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החלק המעשי (אופרטיבי)</a:t>
            </a:r>
            <a:endParaRPr lang="he-IL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751015" y="1728216"/>
            <a:ext cx="4846320" cy="3959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ליבת ההכרזה: סיום המנדט הבריטי והקמת מדינה יהודית בשם "מדינת ישראל"</a:t>
            </a:r>
            <a:endParaRPr lang="he-IL" sz="1500" dirty="0"/>
          </a:p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כינון משטר דמוקרטי: בחירות וחוקה שתכונן ע"י אסיפה מכוננת נבחרת (לא יאוחר מ-1.10.48)</a:t>
            </a:r>
            <a:endParaRPr lang="he-IL" sz="1500" dirty="0"/>
          </a:p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מועצת המדינה הזמנית: </a:t>
            </a:r>
            <a:pPr rtl="1" algn="r" indent="0" marL="0">
              <a:spcAft>
                <a:spcPts val="800"/>
              </a:spcAft>
              <a:buNone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הרשות המחוקקת הזמנית</a:t>
            </a:r>
            <a:endParaRPr lang="he-IL" sz="1500" dirty="0"/>
          </a:p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מנהלת העם: </a:t>
            </a:r>
            <a:pPr rtl="1" algn="r" indent="0" marL="0">
              <a:spcAft>
                <a:spcPts val="800"/>
              </a:spcAft>
              <a:buNone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הממשלה הזמנית (הרשות המבצעת)</a:t>
            </a:r>
            <a:endParaRPr lang="he-IL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1887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7B5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פניות</a:t>
            </a:r>
            <a:endParaRPr lang="he-IL" sz="1800" dirty="0"/>
          </a:p>
        </p:txBody>
      </p:sp>
      <p:sp>
        <p:nvSpPr>
          <p:cNvPr id="10" name="Shape 7"/>
          <p:cNvSpPr/>
          <p:nvPr/>
        </p:nvSpPr>
        <p:spPr>
          <a:xfrm>
            <a:off x="457200" y="1600200"/>
            <a:ext cx="5852160" cy="960120"/>
          </a:xfrm>
          <a:prstGeom prst="roundRect">
            <a:avLst>
              <a:gd name="adj" fmla="val 11429"/>
            </a:avLst>
          </a:prstGeom>
          <a:solidFill>
            <a:srgbClr val="F3ECE4"/>
          </a:solidFill>
          <a:ln w="12700">
            <a:solidFill>
              <a:srgbClr val="F3ECE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170992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7B5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🇺🇳  לאו"ם</a:t>
            </a:r>
            <a:endParaRPr lang="he-IL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2048256"/>
            <a:ext cx="5577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לעזור בבניין המדינה, לממש את החלטת החלוקה ולקבל את ישראל למשפחת העמים</a:t>
            </a:r>
            <a:endParaRPr lang="he-IL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651760"/>
            <a:ext cx="5852160" cy="960120"/>
          </a:xfrm>
          <a:prstGeom prst="roundRect">
            <a:avLst>
              <a:gd name="adj" fmla="val 11429"/>
            </a:avLst>
          </a:prstGeom>
          <a:solidFill>
            <a:srgbClr val="F3ECE4"/>
          </a:solidFill>
          <a:ln w="12700">
            <a:solidFill>
              <a:srgbClr val="F3ECE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276148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7B5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 לערביי ישראל</a:t>
            </a:r>
            <a:endParaRPr lang="he-IL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3099816"/>
            <a:ext cx="5577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לשמור על השלום ולהשתתף בבניין המדינה, עם אזרחות מלאה ושווה וייצוג מתאים</a:t>
            </a:r>
            <a:endParaRPr lang="he-IL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703320"/>
            <a:ext cx="5852160" cy="960120"/>
          </a:xfrm>
          <a:prstGeom prst="roundRect">
            <a:avLst>
              <a:gd name="adj" fmla="val 11429"/>
            </a:avLst>
          </a:prstGeom>
          <a:solidFill>
            <a:srgbClr val="F3ECE4"/>
          </a:solidFill>
          <a:ln w="12700">
            <a:solidFill>
              <a:srgbClr val="F3ECE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381304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7B5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🕊  למדינות ערב השכנות</a:t>
            </a:r>
            <a:endParaRPr lang="he-IL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" y="4151376"/>
            <a:ext cx="5577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יד לשלום ולשכנות טובה, שיתוף פעולה למען המזרח התיכון כולו</a:t>
            </a:r>
            <a:endParaRPr lang="he-IL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4754880"/>
            <a:ext cx="5852160" cy="960120"/>
          </a:xfrm>
          <a:prstGeom prst="roundRect">
            <a:avLst>
              <a:gd name="adj" fmla="val 11429"/>
            </a:avLst>
          </a:prstGeom>
          <a:solidFill>
            <a:srgbClr val="F3ECE4"/>
          </a:solidFill>
          <a:ln w="12700">
            <a:solidFill>
              <a:srgbClr val="F3ECE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486460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7B5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✡  ליהודי התפוצות</a:t>
            </a:r>
            <a:endParaRPr lang="he-IL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5202936"/>
            <a:ext cx="5577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להתלכד סביב היישוב, לעזור בעלייה ובבנייה ולתמוך במדינה</a:t>
            </a:r>
            <a:endParaRPr lang="he-IL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7B5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מאפיינים יהודיים ודמוקרטיים בהכרזה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7B5B3A"/>
          </a:solidFill>
          <a:ln w="12700">
            <a:solidFill>
              <a:srgbClr val="7B5B3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הכרזת העצמאות  ›  אופי המדינה</a:t>
            </a:r>
            <a:endParaRPr lang="he-IL" sz="1200" dirty="0"/>
          </a:p>
        </p:txBody>
      </p:sp>
      <p:sp>
        <p:nvSpPr>
          <p:cNvPr id="6" name="Shape 3"/>
          <p:cNvSpPr/>
          <p:nvPr/>
        </p:nvSpPr>
        <p:spPr>
          <a:xfrm>
            <a:off x="6233008" y="1188720"/>
            <a:ext cx="5501488" cy="4297680"/>
          </a:xfrm>
          <a:prstGeom prst="roundRect">
            <a:avLst>
              <a:gd name="adj" fmla="val 2553"/>
            </a:avLst>
          </a:prstGeom>
          <a:solidFill>
            <a:srgbClr val="F3ECE4"/>
          </a:solidFill>
          <a:ln w="12700">
            <a:solidFill>
              <a:srgbClr val="F3ECE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70168" y="1298448"/>
            <a:ext cx="522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7B5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✡  מאפיינים יהודיים</a:t>
            </a:r>
            <a:endParaRPr lang="he-IL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370168" y="1728216"/>
            <a:ext cx="5227168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השם "מדינת ישראל" וההכרזה עליה כמדינה יהודית</a:t>
            </a:r>
            <a:endParaRPr lang="he-IL" sz="16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פתיחת שעריה לכל יהודי (עלייה)</a:t>
            </a:r>
            <a:endParaRPr lang="he-IL" sz="16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קריאה לעם היהודי להתלכד סביבה</a:t>
            </a:r>
            <a:endParaRPr lang="he-IL" sz="16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המדינה תושתת על חירות, צדק ושלום לאור חזון נביאי ישראל</a:t>
            </a:r>
            <a:endParaRPr lang="he-IL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5501488" cy="4297680"/>
          </a:xfrm>
          <a:prstGeom prst="roundRect">
            <a:avLst>
              <a:gd name="adj" fmla="val 2553"/>
            </a:avLst>
          </a:prstGeom>
          <a:solidFill>
            <a:srgbClr val="E7EFFA"/>
          </a:solidFill>
          <a:ln w="12700">
            <a:solidFill>
              <a:srgbClr val="E7EF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298448"/>
            <a:ext cx="522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5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🗳  מאפיינים דמוקרטיים</a:t>
            </a:r>
            <a:endParaRPr lang="he-IL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1728216"/>
            <a:ext cx="5227168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הקמת מוסדות דמוקרטיים, קיום בחירות וכינון חוקה</a:t>
            </a:r>
            <a:endParaRPr lang="he-IL" sz="16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שוויון זכויות חברתי ומדיני לכל האזרחים ללא הבדל דת, גזע ומין</a:t>
            </a:r>
            <a:endParaRPr lang="he-IL" sz="16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נאמנות לעקרונות מגילת האו"ם</a:t>
            </a:r>
            <a:endParaRPr lang="he-IL" sz="16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קריאה לערבים להשתתף בבניין המדינה באזרחות מלאה ושווה, ונציגות מתאימה במוסדות</a:t>
            </a:r>
            <a:endParaRPr lang="he-IL" sz="16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שמירה על המקומות הקדושים לכל הדתות</a:t>
            </a:r>
            <a:endParaRPr lang="he-IL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5623560"/>
            <a:ext cx="11277295" cy="640080"/>
          </a:xfrm>
          <a:prstGeom prst="roundRect">
            <a:avLst>
              <a:gd name="adj" fmla="val 14286"/>
            </a:avLst>
          </a:prstGeom>
          <a:solidFill>
            <a:srgbClr val="FDECEC"/>
          </a:solidFill>
          <a:ln w="12700">
            <a:solidFill>
              <a:srgbClr val="E39A9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583" y="58064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66928" y="5623560"/>
            <a:ext cx="106372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הסתייגות: הכרזת העצמאות אינה חוקה ואינה חוק. היא מבטאת את "האני מאמין" של המדינה ומשמשת לפרשנות.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7B5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 מהבגרות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7B5B3A"/>
          </a:solidFill>
          <a:ln w="12700">
            <a:solidFill>
              <a:srgbClr val="7B5B3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הכרזת העצמאות  ›  פניות בהכרזה</a:t>
            </a:r>
            <a:endParaRPr lang="he-IL" sz="1200" dirty="0"/>
          </a:p>
        </p:txBody>
      </p:sp>
      <p:sp>
        <p:nvSpPr>
          <p:cNvPr id="6" name="Shape 3"/>
          <p:cNvSpPr/>
          <p:nvPr/>
        </p:nvSpPr>
        <p:spPr>
          <a:xfrm>
            <a:off x="7528255" y="1143000"/>
            <a:ext cx="4206240" cy="438912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1225296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619695" y="114300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בגרות חורף תשפ"ד • שאלון 34281</a:t>
            </a:r>
            <a:endParaRPr lang="he-IL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1143000"/>
            <a:ext cx="68881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100" i="1" dirty="0">
                <a:solidFill>
                  <a:srgbClr val="5D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השאלה בתמצית • תשובה לפי פתרון גבע (לא רשמי)</a:t>
            </a:r>
            <a:endParaRPr lang="he-IL" sz="1100" dirty="0"/>
          </a:p>
        </p:txBody>
      </p:sp>
      <p:sp>
        <p:nvSpPr>
          <p:cNvPr id="10" name="Shape 6"/>
          <p:cNvSpPr/>
          <p:nvPr/>
        </p:nvSpPr>
        <p:spPr>
          <a:xfrm>
            <a:off x="6613855" y="1783080"/>
            <a:ext cx="5120640" cy="4526280"/>
          </a:xfrm>
          <a:prstGeom prst="roundRect">
            <a:avLst>
              <a:gd name="adj" fmla="val 2424"/>
            </a:avLst>
          </a:prstGeom>
          <a:solidFill>
            <a:srgbClr val="F3ECE4"/>
          </a:solidFill>
          <a:ln w="12700">
            <a:solidFill>
              <a:srgbClr val="F3ECE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751015" y="18928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7B5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השאלה</a:t>
            </a:r>
            <a:endParaRPr lang="he-IL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751015" y="2322576"/>
            <a:ext cx="4846320" cy="3913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קטע: במהלך מלחמת "חרבות ברזל" הגיעו לארץ צעירים יהודים מהתפוצות כדי להתגייס לצה"ל.</a:t>
            </a:r>
            <a:endParaRPr lang="he-IL" sz="1700" dirty="0"/>
          </a:p>
          <a:p>
            <a:pPr rtl="1" algn="r" indent="0" marL="0">
              <a:spcAft>
                <a:spcPts val="400"/>
              </a:spcAft>
              <a:buNone/>
            </a:pPr>
            <a:endParaRPr lang="he-IL" sz="1700" dirty="0"/>
          </a:p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ציינו והציגו את הקריאה שבהכרזת העצמאות שבאה לידי ביטוי בקטע. הסבירו כיצד היא באה לידי ביטוי.</a:t>
            </a:r>
            <a:endParaRPr lang="he-IL" sz="1700" dirty="0"/>
          </a:p>
        </p:txBody>
      </p:sp>
      <p:sp>
        <p:nvSpPr>
          <p:cNvPr id="13" name="Shape 9"/>
          <p:cNvSpPr/>
          <p:nvPr/>
        </p:nvSpPr>
        <p:spPr>
          <a:xfrm>
            <a:off x="457200" y="1783080"/>
            <a:ext cx="5882335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7B5B3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94360" y="1892808"/>
            <a:ext cx="5608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7B5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תשובה לדוגמה</a:t>
            </a:r>
            <a:endParaRPr lang="he-IL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594360" y="2322576"/>
            <a:ext cx="5608015" cy="3913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1400"/>
              </a:spcAft>
              <a:buSzPct val="100000"/>
              <a:buChar char="•"/>
            </a:pPr>
            <a:r>
              <a:rPr lang="he-IL" altLang="en-US" sz="17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ציין: </a:t>
            </a:r>
            <a:pPr rtl="1" algn="r" indent="0" marL="0">
              <a:spcAft>
                <a:spcPts val="1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הפנייה לעם היהודי בתפוצות</a:t>
            </a:r>
            <a:endParaRPr lang="he-IL" sz="1700" dirty="0"/>
          </a:p>
          <a:p>
            <a:pPr rtl="1" algn="r" marL="177800" indent="-177800">
              <a:spcAft>
                <a:spcPts val="1400"/>
              </a:spcAft>
              <a:buSzPct val="100000"/>
              <a:buChar char="•"/>
            </a:pPr>
            <a:r>
              <a:rPr lang="he-IL" altLang="en-US" sz="17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הצג: </a:t>
            </a:r>
            <a:pPr rtl="1" algn="r" indent="0" marL="0">
              <a:spcAft>
                <a:spcPts val="1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קריאה ליהודי התפוצות להתלכד סביב היישוב, לסייע בעלייה ובבניין ולעמוד לימין המדינה</a:t>
            </a:r>
            <a:endParaRPr lang="he-IL" sz="1700" dirty="0"/>
          </a:p>
          <a:p>
            <a:pPr rtl="1" algn="r" marL="177800" indent="-177800">
              <a:spcAft>
                <a:spcPts val="1400"/>
              </a:spcAft>
              <a:buSzPct val="100000"/>
              <a:buChar char="•"/>
            </a:pPr>
            <a:r>
              <a:rPr lang="he-IL" altLang="en-US" sz="17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הסבר: </a:t>
            </a:r>
            <a:pPr rtl="1" algn="r" indent="0" marL="0">
              <a:spcAft>
                <a:spcPts val="1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הצעירים מהתפוצות עלו כדי להתגייס ולהגן על המדינה במלחמה, כלומר הם עומדים לימינה, כפי שקראה ההכרזה</a:t>
            </a:r>
            <a:endParaRPr lang="he-IL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5F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914400"/>
            <a:ext cx="1463040" cy="1463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1455" y="128016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960120"/>
            <a:ext cx="90827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קבוצה 2</a:t>
            </a:r>
            <a:endParaRPr lang="he-IL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371600"/>
            <a:ext cx="908273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שלטון העם והבחירות</a:t>
            </a:r>
            <a:endParaRPr lang="he-IL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880360"/>
            <a:ext cx="1127729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בפרק הזה:</a:t>
            </a:r>
            <a:endParaRPr lang="he-IL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91840"/>
            <a:ext cx="11277295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עקרון שלטון העם</a:t>
            </a:r>
            <a:endParaRPr lang="he-IL" sz="18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התנאים לבחירות דמוקרטיות</a:t>
            </a:r>
            <a:endParaRPr lang="he-IL" sz="18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שיטת הבחירות בישראל: ארצית, יחסית, רשימתית</a:t>
            </a:r>
            <a:endParaRPr lang="he-IL" sz="18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עקרון הכרעת הרוב וההצדקות לו</a:t>
            </a:r>
            <a:endParaRPr lang="he-IL" sz="18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עריצות הרוב: הגבול של הכרעת הרוב</a:t>
            </a:r>
            <a:endParaRPr lang="he-IL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1F5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שלטון העם ו-5 התנאים לבחירות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שלטון העם  ›  בחירות</a:t>
            </a:r>
            <a:endParaRPr lang="he-IL" sz="1200" dirty="0"/>
          </a:p>
        </p:txBody>
      </p:sp>
      <p:sp>
        <p:nvSpPr>
          <p:cNvPr id="6" name="Shape 3"/>
          <p:cNvSpPr/>
          <p:nvPr/>
        </p:nvSpPr>
        <p:spPr>
          <a:xfrm>
            <a:off x="7711135" y="1188720"/>
            <a:ext cx="4023360" cy="4251960"/>
          </a:xfrm>
          <a:prstGeom prst="roundRect">
            <a:avLst>
              <a:gd name="adj" fmla="val 2727"/>
            </a:avLst>
          </a:prstGeom>
          <a:solidFill>
            <a:srgbClr val="E7EFFA"/>
          </a:solidFill>
          <a:ln w="12700">
            <a:solidFill>
              <a:srgbClr val="E7EF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48295" y="129844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5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עקרון שלטון העם</a:t>
            </a:r>
            <a:endParaRPr lang="he-IL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848295" y="1728216"/>
            <a:ext cx="3749040" cy="3639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עקרון היסוד של הדמוקרטיה: האזרחים הם הריבון, מקור הסמכות של השלטון</a:t>
            </a:r>
            <a:endParaRPr lang="he-IL" sz="15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האזרחים בוחרים את השלטון לזמן קצוב שנקבע בחוק</a:t>
            </a:r>
            <a:endParaRPr lang="he-IL" sz="15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בחירות דמוקרטיות הן תנאי הכרחי: הן מאפשרות חילופי שלטון</a:t>
            </a:r>
            <a:endParaRPr lang="he-IL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6858000" cy="749808"/>
          </a:xfrm>
          <a:prstGeom prst="roundRect">
            <a:avLst>
              <a:gd name="adj" fmla="val 12195"/>
            </a:avLst>
          </a:prstGeom>
          <a:solidFill>
            <a:srgbClr val="E7EFFA"/>
          </a:solidFill>
          <a:ln w="12700">
            <a:solidFill>
              <a:srgbClr val="E7EFF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20840" y="1307592"/>
            <a:ext cx="512064" cy="512064"/>
          </a:xfrm>
          <a:prstGeom prst="ellipse">
            <a:avLst/>
          </a:prstGeom>
          <a:solidFill>
            <a:srgbClr val="1F5FA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720840" y="13075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</a:t>
            </a:r>
            <a:endParaRPr lang="he-IL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1188720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F5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כלליות</a:t>
            </a:r>
            <a:endParaRPr lang="he-IL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1188720"/>
            <a:ext cx="4343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אזרח מגיל שנקבע בחוק זכאי להצביע</a:t>
            </a:r>
            <a:endParaRPr lang="he-IL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2057400"/>
            <a:ext cx="6858000" cy="749808"/>
          </a:xfrm>
          <a:prstGeom prst="roundRect">
            <a:avLst>
              <a:gd name="adj" fmla="val 12195"/>
            </a:avLst>
          </a:prstGeom>
          <a:solidFill>
            <a:srgbClr val="E7EFFA"/>
          </a:solidFill>
          <a:ln w="12700">
            <a:solidFill>
              <a:srgbClr val="E7EFF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20840" y="2176272"/>
            <a:ext cx="512064" cy="512064"/>
          </a:xfrm>
          <a:prstGeom prst="ellipse">
            <a:avLst/>
          </a:prstGeom>
          <a:solidFill>
            <a:srgbClr val="1F5FA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720840" y="2176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</a:t>
            </a:r>
            <a:endParaRPr lang="he-IL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846320" y="2057400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F5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חשאיות</a:t>
            </a:r>
            <a:endParaRPr lang="he-IL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2057400"/>
            <a:ext cx="4343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אף אחד לא חייב לחשוף את הצבעתו, כדי למנוע לחצים</a:t>
            </a:r>
            <a:endParaRPr lang="he-IL" sz="1400" dirty="0"/>
          </a:p>
        </p:txBody>
      </p:sp>
      <p:sp>
        <p:nvSpPr>
          <p:cNvPr id="19" name="Shape 16"/>
          <p:cNvSpPr/>
          <p:nvPr/>
        </p:nvSpPr>
        <p:spPr>
          <a:xfrm>
            <a:off x="457200" y="2926080"/>
            <a:ext cx="6858000" cy="749808"/>
          </a:xfrm>
          <a:prstGeom prst="roundRect">
            <a:avLst>
              <a:gd name="adj" fmla="val 12195"/>
            </a:avLst>
          </a:prstGeom>
          <a:solidFill>
            <a:srgbClr val="E7EFFA"/>
          </a:solidFill>
          <a:ln w="12700">
            <a:solidFill>
              <a:srgbClr val="E7EFF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720840" y="3044952"/>
            <a:ext cx="512064" cy="512064"/>
          </a:xfrm>
          <a:prstGeom prst="ellipse">
            <a:avLst/>
          </a:prstGeom>
          <a:solidFill>
            <a:srgbClr val="1F5FA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720840" y="30449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</a:t>
            </a:r>
            <a:endParaRPr lang="he-IL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4846320" y="2926080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F5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שוויוניות</a:t>
            </a:r>
            <a:endParaRPr lang="he-IL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2926080"/>
            <a:ext cx="4343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לכל אזרח קול אחד, ששווה לקול של כל אחד אחר</a:t>
            </a:r>
            <a:endParaRPr lang="he-IL" sz="1400" dirty="0"/>
          </a:p>
        </p:txBody>
      </p:sp>
      <p:sp>
        <p:nvSpPr>
          <p:cNvPr id="24" name="Shape 21"/>
          <p:cNvSpPr/>
          <p:nvPr/>
        </p:nvSpPr>
        <p:spPr>
          <a:xfrm>
            <a:off x="457200" y="3794760"/>
            <a:ext cx="6858000" cy="749808"/>
          </a:xfrm>
          <a:prstGeom prst="roundRect">
            <a:avLst>
              <a:gd name="adj" fmla="val 12195"/>
            </a:avLst>
          </a:prstGeom>
          <a:solidFill>
            <a:srgbClr val="E7EFFA"/>
          </a:solidFill>
          <a:ln w="12700">
            <a:solidFill>
              <a:srgbClr val="E7EFF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720840" y="3913632"/>
            <a:ext cx="512064" cy="512064"/>
          </a:xfrm>
          <a:prstGeom prst="ellipse">
            <a:avLst/>
          </a:prstGeom>
          <a:solidFill>
            <a:srgbClr val="1F5FAD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720840" y="3913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</a:t>
            </a:r>
            <a:endParaRPr lang="he-IL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4846320" y="3794760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F5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מחזוריות</a:t>
            </a:r>
            <a:endParaRPr lang="he-IL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3794760"/>
            <a:ext cx="4343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בחירות בפרקי זמן קבועים וידועים מראש בחוק</a:t>
            </a:r>
            <a:endParaRPr lang="he-IL" sz="1400" dirty="0"/>
          </a:p>
        </p:txBody>
      </p:sp>
      <p:sp>
        <p:nvSpPr>
          <p:cNvPr id="29" name="Shape 26"/>
          <p:cNvSpPr/>
          <p:nvPr/>
        </p:nvSpPr>
        <p:spPr>
          <a:xfrm>
            <a:off x="457200" y="4663440"/>
            <a:ext cx="6858000" cy="749808"/>
          </a:xfrm>
          <a:prstGeom prst="roundRect">
            <a:avLst>
              <a:gd name="adj" fmla="val 12195"/>
            </a:avLst>
          </a:prstGeom>
          <a:solidFill>
            <a:srgbClr val="E7EFFA"/>
          </a:solidFill>
          <a:ln w="12700">
            <a:solidFill>
              <a:srgbClr val="E7EFF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720840" y="4782312"/>
            <a:ext cx="512064" cy="512064"/>
          </a:xfrm>
          <a:prstGeom prst="ellipse">
            <a:avLst/>
          </a:prstGeom>
          <a:solidFill>
            <a:srgbClr val="1F5FAD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720840" y="47823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</a:t>
            </a:r>
            <a:endParaRPr lang="he-IL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4846320" y="4663440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F5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התמודדות חופשית</a:t>
            </a:r>
            <a:endParaRPr lang="he-IL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4663440"/>
            <a:ext cx="4343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מפלגה או מועמד יכולים להתמודד (מלבד תנאי סף מינימליים)</a:t>
            </a:r>
            <a:endParaRPr lang="he-IL" sz="1400" dirty="0"/>
          </a:p>
        </p:txBody>
      </p:sp>
      <p:sp>
        <p:nvSpPr>
          <p:cNvPr id="34" name="Shape 31"/>
          <p:cNvSpPr/>
          <p:nvPr/>
        </p:nvSpPr>
        <p:spPr>
          <a:xfrm>
            <a:off x="457200" y="5623560"/>
            <a:ext cx="11277295" cy="566928"/>
          </a:xfrm>
          <a:prstGeom prst="roundRect">
            <a:avLst>
              <a:gd name="adj" fmla="val 16129"/>
            </a:avLst>
          </a:prstGeom>
          <a:solidFill>
            <a:srgbClr val="FFF7D6"/>
          </a:solidFill>
          <a:ln w="12700">
            <a:solidFill>
              <a:srgbClr val="E8C547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5760720"/>
            <a:ext cx="292608" cy="292608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594360" y="562356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לזכירה: בחירות כְּשִׂמְחָה ← כ׳לליות, ש׳וויוניות, מ׳חזוריות, ח׳שאיות, ה׳תמודדות חופשית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1F5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שיטת הבחירות בישראל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שלטון העם  ›  שיטת בחירות</a:t>
            </a:r>
            <a:endParaRPr lang="he-IL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51560"/>
            <a:ext cx="1127729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בישראל השיטה היא ארצית, יחסית ורשימתית:</a:t>
            </a:r>
            <a:endParaRPr lang="he-IL" sz="1700" dirty="0"/>
          </a:p>
        </p:txBody>
      </p:sp>
      <p:sp>
        <p:nvSpPr>
          <p:cNvPr id="7" name="Shape 4"/>
          <p:cNvSpPr/>
          <p:nvPr/>
        </p:nvSpPr>
        <p:spPr>
          <a:xfrm>
            <a:off x="8158277" y="1600200"/>
            <a:ext cx="3576218" cy="3840480"/>
          </a:xfrm>
          <a:prstGeom prst="roundRect">
            <a:avLst>
              <a:gd name="adj" fmla="val 3068"/>
            </a:avLst>
          </a:prstGeom>
          <a:solidFill>
            <a:srgbClr val="E7EFFA"/>
          </a:solidFill>
          <a:ln w="12700">
            <a:solidFill>
              <a:srgbClr val="E7EF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489186" y="17373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</a:t>
            </a:r>
            <a:endParaRPr lang="he-IL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341157" y="2514600"/>
            <a:ext cx="32104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2400" b="1" dirty="0">
                <a:solidFill>
                  <a:srgbClr val="1F5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ארצית</a:t>
            </a:r>
            <a:endParaRPr lang="he-IL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8341157" y="3108960"/>
            <a:ext cx="321045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הארץ היא אזור בחירה אחד לצורך חישוב התוצאות.</a:t>
            </a:r>
            <a:endParaRPr lang="he-IL" sz="1500" dirty="0"/>
          </a:p>
        </p:txBody>
      </p:sp>
      <p:sp>
        <p:nvSpPr>
          <p:cNvPr id="11" name="Shape 8"/>
          <p:cNvSpPr/>
          <p:nvPr/>
        </p:nvSpPr>
        <p:spPr>
          <a:xfrm>
            <a:off x="4307738" y="1600200"/>
            <a:ext cx="3576218" cy="3840480"/>
          </a:xfrm>
          <a:prstGeom prst="roundRect">
            <a:avLst>
              <a:gd name="adj" fmla="val 3068"/>
            </a:avLst>
          </a:prstGeom>
          <a:solidFill>
            <a:srgbClr val="E7EFFA"/>
          </a:solidFill>
          <a:ln w="12700">
            <a:solidFill>
              <a:srgbClr val="E7EFF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38648" y="17373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he-IL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4490618" y="2514600"/>
            <a:ext cx="32104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2400" b="1" dirty="0">
                <a:solidFill>
                  <a:srgbClr val="1F5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יחסית</a:t>
            </a:r>
            <a:endParaRPr lang="he-IL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4490618" y="3108960"/>
            <a:ext cx="321045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המושבים בכנסת מחולקים בערך לפי אחוז הקולות שכל מפלגה קיבלה, בתנאי שעברה את אחוז החסימה. החישוב נעשה לפי הקולות הכשרים.</a:t>
            </a:r>
            <a:endParaRPr lang="he-IL" sz="1500" dirty="0"/>
          </a:p>
        </p:txBody>
      </p:sp>
      <p:sp>
        <p:nvSpPr>
          <p:cNvPr id="15" name="Shape 12"/>
          <p:cNvSpPr/>
          <p:nvPr/>
        </p:nvSpPr>
        <p:spPr>
          <a:xfrm>
            <a:off x="457200" y="1600200"/>
            <a:ext cx="3576218" cy="3840480"/>
          </a:xfrm>
          <a:prstGeom prst="roundRect">
            <a:avLst>
              <a:gd name="adj" fmla="val 3068"/>
            </a:avLst>
          </a:prstGeom>
          <a:solidFill>
            <a:srgbClr val="E7EFFA"/>
          </a:solidFill>
          <a:ln w="12700">
            <a:solidFill>
              <a:srgbClr val="E7EFF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788109" y="17373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he-IL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2514600"/>
            <a:ext cx="32104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2400" b="1" dirty="0">
                <a:solidFill>
                  <a:srgbClr val="1F5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רשימתית</a:t>
            </a:r>
            <a:endParaRPr lang="he-IL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3108960"/>
            <a:ext cx="321045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מצביעים למפלגה, לא לאדם. המפלגה קובעת מראש את רשימת המועמדים וסדרם (פריימריז, ועדה מסדרת או החלטת מנהיג), והבוחר מאשר את הרשימה כגוש אחד.</a:t>
            </a:r>
            <a:endParaRPr lang="he-IL" sz="1500" dirty="0"/>
          </a:p>
        </p:txBody>
      </p:sp>
      <p:sp>
        <p:nvSpPr>
          <p:cNvPr id="19" name="Shape 16"/>
          <p:cNvSpPr/>
          <p:nvPr/>
        </p:nvSpPr>
        <p:spPr>
          <a:xfrm>
            <a:off x="457200" y="5623560"/>
            <a:ext cx="11277295" cy="566928"/>
          </a:xfrm>
          <a:prstGeom prst="roundRect">
            <a:avLst>
              <a:gd name="adj" fmla="val 16129"/>
            </a:avLst>
          </a:prstGeom>
          <a:solidFill>
            <a:srgbClr val="FFF7D6"/>
          </a:solidFill>
          <a:ln w="12700">
            <a:solidFill>
              <a:srgbClr val="E8C547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5760720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94360" y="562356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לזכירה: השיטה היא אי"ר ← א׳רצית, י׳חסית, ר׳שימתית (כמו ה' באייר, יום ההכרזה)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1F5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עקרון הכרעת הרוב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שלטון העם  ›  הכרעת הרוב</a:t>
            </a:r>
            <a:endParaRPr lang="he-IL" sz="1200" dirty="0"/>
          </a:p>
        </p:txBody>
      </p:sp>
      <p:sp>
        <p:nvSpPr>
          <p:cNvPr id="6" name="Shape 3"/>
          <p:cNvSpPr/>
          <p:nvPr/>
        </p:nvSpPr>
        <p:spPr>
          <a:xfrm>
            <a:off x="6796735" y="1188720"/>
            <a:ext cx="4937760" cy="2377440"/>
          </a:xfrm>
          <a:prstGeom prst="roundRect">
            <a:avLst>
              <a:gd name="adj" fmla="val 4615"/>
            </a:avLst>
          </a:prstGeom>
          <a:solidFill>
            <a:srgbClr val="E7EFFA"/>
          </a:solidFill>
          <a:ln w="12700">
            <a:solidFill>
              <a:srgbClr val="E7EF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33895" y="129844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5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ההגדרה</a:t>
            </a:r>
            <a:endParaRPr lang="he-IL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933895" y="1728216"/>
            <a:ext cx="4663440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החלטות מתקבלות לפי רצון הרוב המספרי, בדרכי שלום</a:t>
            </a:r>
            <a:endParaRPr lang="he-IL" sz="16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המיעוט חייב לציית להחלטה</a:t>
            </a:r>
            <a:endParaRPr lang="he-IL" sz="1600" dirty="0"/>
          </a:p>
        </p:txBody>
      </p:sp>
      <p:sp>
        <p:nvSpPr>
          <p:cNvPr id="9" name="Shape 6"/>
          <p:cNvSpPr/>
          <p:nvPr/>
        </p:nvSpPr>
        <p:spPr>
          <a:xfrm>
            <a:off x="6796735" y="3749040"/>
            <a:ext cx="4937760" cy="914400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 w="12700">
            <a:solidFill>
              <a:srgbClr val="E39A9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583" y="40690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906463" y="374904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הסתייגות: אסור לרוב לקבל החלטות שפוגעות באופן בלתי סביר ובלתי מוצדק בזכויות היסוד של המיעוט.</a:t>
            </a:r>
            <a:endParaRPr lang="he-IL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118872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1F5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הצדקות לעיקרון</a:t>
            </a:r>
            <a:endParaRPr lang="he-IL" sz="1800" dirty="0"/>
          </a:p>
        </p:txBody>
      </p:sp>
      <p:sp>
        <p:nvSpPr>
          <p:cNvPr id="13" name="Shape 9"/>
          <p:cNvSpPr/>
          <p:nvPr/>
        </p:nvSpPr>
        <p:spPr>
          <a:xfrm>
            <a:off x="457200" y="1645920"/>
            <a:ext cx="6035040" cy="694944"/>
          </a:xfrm>
          <a:prstGeom prst="roundRect">
            <a:avLst>
              <a:gd name="adj" fmla="val 15789"/>
            </a:avLst>
          </a:prstGeom>
          <a:solidFill>
            <a:srgbClr val="E7EFFA"/>
          </a:solidFill>
          <a:ln w="12700">
            <a:solidFill>
              <a:srgbClr val="E7EFF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94360" y="1755648"/>
            <a:ext cx="5760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שלטון העם: </a:t>
            </a:r>
            <a:pPr rtl="1" algn="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החלטת הרוב היא הקרובה ביותר לרצון העם כולו</a:t>
            </a:r>
            <a:endParaRPr lang="he-IL" sz="1400" dirty="0"/>
          </a:p>
        </p:txBody>
      </p:sp>
      <p:sp>
        <p:nvSpPr>
          <p:cNvPr id="15" name="Shape 11"/>
          <p:cNvSpPr/>
          <p:nvPr/>
        </p:nvSpPr>
        <p:spPr>
          <a:xfrm>
            <a:off x="457200" y="2432304"/>
            <a:ext cx="6035040" cy="694944"/>
          </a:xfrm>
          <a:prstGeom prst="roundRect">
            <a:avLst>
              <a:gd name="adj" fmla="val 15789"/>
            </a:avLst>
          </a:prstGeom>
          <a:solidFill>
            <a:srgbClr val="E7EFFA"/>
          </a:solidFill>
          <a:ln w="12700">
            <a:solidFill>
              <a:srgbClr val="E7EFF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94360" y="2542032"/>
            <a:ext cx="5760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שוויון: </a:t>
            </a:r>
            <a:pPr rtl="1" algn="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לכל קול משקל שווה, אין קול שעדיף על אחר</a:t>
            </a:r>
            <a:endParaRPr lang="he-IL" sz="1400" dirty="0"/>
          </a:p>
        </p:txBody>
      </p:sp>
      <p:sp>
        <p:nvSpPr>
          <p:cNvPr id="17" name="Shape 13"/>
          <p:cNvSpPr/>
          <p:nvPr/>
        </p:nvSpPr>
        <p:spPr>
          <a:xfrm>
            <a:off x="457200" y="3218688"/>
            <a:ext cx="6035040" cy="694944"/>
          </a:xfrm>
          <a:prstGeom prst="roundRect">
            <a:avLst>
              <a:gd name="adj" fmla="val 15789"/>
            </a:avLst>
          </a:prstGeom>
          <a:solidFill>
            <a:srgbClr val="E7EFFA"/>
          </a:solidFill>
          <a:ln w="12700">
            <a:solidFill>
              <a:srgbClr val="E7EFF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94360" y="3328416"/>
            <a:ext cx="5760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יציבות: </a:t>
            </a:r>
            <a:pPr rtl="1" algn="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מונע תסכול ואלימות שהיו נגרמים מכפיית רצון המיעוט על הרוב</a:t>
            </a:r>
            <a:endParaRPr lang="he-IL" sz="1400" dirty="0"/>
          </a:p>
        </p:txBody>
      </p:sp>
      <p:sp>
        <p:nvSpPr>
          <p:cNvPr id="19" name="Shape 15"/>
          <p:cNvSpPr/>
          <p:nvPr/>
        </p:nvSpPr>
        <p:spPr>
          <a:xfrm>
            <a:off x="457200" y="4005072"/>
            <a:ext cx="6035040" cy="694944"/>
          </a:xfrm>
          <a:prstGeom prst="roundRect">
            <a:avLst>
              <a:gd name="adj" fmla="val 15789"/>
            </a:avLst>
          </a:prstGeom>
          <a:solidFill>
            <a:srgbClr val="E7EFFA"/>
          </a:solidFill>
          <a:ln w="12700">
            <a:solidFill>
              <a:srgbClr val="E7EFF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94360" y="4114800"/>
            <a:ext cx="5760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הסכמיות: </a:t>
            </a:r>
            <a:pPr rtl="1" algn="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כולם מסכימים שזה הליך הוגן, והמיעוט יכול להפוך לרוב בעתיד</a:t>
            </a:r>
            <a:endParaRPr lang="he-IL" sz="1400" dirty="0"/>
          </a:p>
        </p:txBody>
      </p:sp>
      <p:sp>
        <p:nvSpPr>
          <p:cNvPr id="21" name="Shape 17"/>
          <p:cNvSpPr/>
          <p:nvPr/>
        </p:nvSpPr>
        <p:spPr>
          <a:xfrm>
            <a:off x="457200" y="4791456"/>
            <a:ext cx="6035040" cy="694944"/>
          </a:xfrm>
          <a:prstGeom prst="roundRect">
            <a:avLst>
              <a:gd name="adj" fmla="val 15789"/>
            </a:avLst>
          </a:prstGeom>
          <a:solidFill>
            <a:srgbClr val="E7EFFA"/>
          </a:solidFill>
          <a:ln w="12700">
            <a:solidFill>
              <a:srgbClr val="E7EFF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94360" y="4901184"/>
            <a:ext cx="5760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תועלתנות: </a:t>
            </a:r>
            <a:pPr rtl="1" algn="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תועלת למספר הגדול ביותר של אנשים</a:t>
            </a:r>
            <a:endParaRPr lang="he-IL" sz="1400" dirty="0"/>
          </a:p>
        </p:txBody>
      </p:sp>
      <p:sp>
        <p:nvSpPr>
          <p:cNvPr id="23" name="Shape 19"/>
          <p:cNvSpPr/>
          <p:nvPr/>
        </p:nvSpPr>
        <p:spPr>
          <a:xfrm>
            <a:off x="457200" y="5715000"/>
            <a:ext cx="11277295" cy="566928"/>
          </a:xfrm>
          <a:prstGeom prst="roundRect">
            <a:avLst>
              <a:gd name="adj" fmla="val 16129"/>
            </a:avLst>
          </a:prstGeom>
          <a:solidFill>
            <a:srgbClr val="FFF7D6"/>
          </a:solidFill>
          <a:ln w="12700">
            <a:solidFill>
              <a:srgbClr val="E8C547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5852160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94360" y="571500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לזכירה: ההצדקות הן ש.ש.י.ה.ת ← ש׳לטון העם, ש׳וויון, י׳ציבות, ה׳סכמיות, ת׳ועלתנות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1F5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עריצות הרוב: כשהרוב חוצה את הקו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שלטון העם  ›  עריצות הרוב</a:t>
            </a:r>
            <a:endParaRPr lang="he-IL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11277295" cy="1280160"/>
          </a:xfrm>
          <a:prstGeom prst="roundRect">
            <a:avLst>
              <a:gd name="adj" fmla="val 8571"/>
            </a:avLst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80160"/>
            <a:ext cx="108200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עריצות הרוב: מצב פסול שבו הרוב מנצל את כוחו המספרי כדי לקפח את המיעוט ולפגוע בזכויות האדם והאזרח שלו באופן בלתי מוצדק.</a:t>
            </a:r>
            <a:endParaRPr lang="he-IL" sz="2000" dirty="0"/>
          </a:p>
        </p:txBody>
      </p:sp>
      <p:sp>
        <p:nvSpPr>
          <p:cNvPr id="8" name="Shape 5"/>
          <p:cNvSpPr/>
          <p:nvPr/>
        </p:nvSpPr>
        <p:spPr>
          <a:xfrm>
            <a:off x="6233008" y="2788920"/>
            <a:ext cx="5501488" cy="2651760"/>
          </a:xfrm>
          <a:prstGeom prst="roundRect">
            <a:avLst>
              <a:gd name="adj" fmla="val 4138"/>
            </a:avLst>
          </a:prstGeom>
          <a:solidFill>
            <a:srgbClr val="E7EFFA"/>
          </a:solidFill>
          <a:ln w="12700">
            <a:solidFill>
              <a:srgbClr val="E7EF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70168" y="2898648"/>
            <a:ext cx="522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5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הכרעת רוב לגיטימית</a:t>
            </a:r>
            <a:endParaRPr lang="he-IL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370168" y="3328416"/>
            <a:ext cx="5227168" cy="2039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החלטה בדרכי שלום לפי רוב</a:t>
            </a:r>
            <a:endParaRPr lang="he-IL" sz="1500" dirty="0"/>
          </a:p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שומרת על זכויות היסוד של המיעוט</a:t>
            </a:r>
            <a:endParaRPr lang="he-IL" sz="1500" dirty="0"/>
          </a:p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שומרת על כללי המשחק הדמוקרטיים</a:t>
            </a:r>
            <a:endParaRPr lang="he-IL" sz="1500" dirty="0"/>
          </a:p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המיעוט יכול להפוך לרוב בעתיד</a:t>
            </a:r>
            <a:endParaRPr lang="he-IL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788920"/>
            <a:ext cx="5501488" cy="2651760"/>
          </a:xfrm>
          <a:prstGeom prst="roundRect">
            <a:avLst>
              <a:gd name="adj" fmla="val 4138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2898648"/>
            <a:ext cx="522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עריצות הרוב</a:t>
            </a:r>
            <a:endParaRPr lang="he-IL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3328416"/>
            <a:ext cx="5227168" cy="2039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הרוב מתעלם מחובת הגבלת השלטון</a:t>
            </a:r>
            <a:endParaRPr lang="he-IL" sz="1500" dirty="0"/>
          </a:p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פוגע בכללי המשחק הדמוקרטיים</a:t>
            </a:r>
            <a:endParaRPr lang="he-IL" sz="1500" dirty="0"/>
          </a:p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הכרעת הרוב הופכת מכלי דמוקרטי לכלי דיכוי</a:t>
            </a:r>
            <a:endParaRPr lang="he-IL" sz="1500" dirty="0"/>
          </a:p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מסכנת את עצם קיום הדמוקרטיה</a:t>
            </a:r>
            <a:endParaRPr lang="he-IL" sz="1500" dirty="0"/>
          </a:p>
        </p:txBody>
      </p:sp>
      <p:sp>
        <p:nvSpPr>
          <p:cNvPr id="14" name="Shape 11"/>
          <p:cNvSpPr/>
          <p:nvPr/>
        </p:nvSpPr>
        <p:spPr>
          <a:xfrm>
            <a:off x="457200" y="5623560"/>
            <a:ext cx="11277295" cy="566928"/>
          </a:xfrm>
          <a:prstGeom prst="roundRect">
            <a:avLst>
              <a:gd name="adj" fmla="val 16129"/>
            </a:avLst>
          </a:prstGeom>
          <a:solidFill>
            <a:srgbClr val="FFF7D6"/>
          </a:solidFill>
          <a:ln w="12700">
            <a:solidFill>
              <a:srgbClr val="E8C54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5760720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94360" y="562356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הקשר לקבוצות אחרות: עריצות הרוב היא בדיוק הסיבה לעקרון הגבלת השלטון ולהגנה על זכויות האדם.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1F5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 מהבגרות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שלטון העם  ›  תנאי הכלליות</a:t>
            </a:r>
            <a:endParaRPr lang="he-IL" sz="1200" dirty="0"/>
          </a:p>
        </p:txBody>
      </p:sp>
      <p:sp>
        <p:nvSpPr>
          <p:cNvPr id="6" name="Shape 3"/>
          <p:cNvSpPr/>
          <p:nvPr/>
        </p:nvSpPr>
        <p:spPr>
          <a:xfrm>
            <a:off x="7528255" y="1143000"/>
            <a:ext cx="4206240" cy="438912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1225296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619695" y="114300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בגרות קיץ תשפ"ב • שאלון 34281</a:t>
            </a:r>
            <a:endParaRPr lang="he-IL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1143000"/>
            <a:ext cx="68881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100" i="1" dirty="0">
                <a:solidFill>
                  <a:srgbClr val="5D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השאלה בתמצית • תשובה לפי פתרון גבע (לא רשמי)</a:t>
            </a:r>
            <a:endParaRPr lang="he-IL" sz="1100" dirty="0"/>
          </a:p>
        </p:txBody>
      </p:sp>
      <p:sp>
        <p:nvSpPr>
          <p:cNvPr id="10" name="Shape 6"/>
          <p:cNvSpPr/>
          <p:nvPr/>
        </p:nvSpPr>
        <p:spPr>
          <a:xfrm>
            <a:off x="6613855" y="1783080"/>
            <a:ext cx="5120640" cy="4526280"/>
          </a:xfrm>
          <a:prstGeom prst="roundRect">
            <a:avLst>
              <a:gd name="adj" fmla="val 2424"/>
            </a:avLst>
          </a:prstGeom>
          <a:solidFill>
            <a:srgbClr val="E7EFFA"/>
          </a:solidFill>
          <a:ln w="12700">
            <a:solidFill>
              <a:srgbClr val="E7EFF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751015" y="18928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5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השאלה</a:t>
            </a:r>
            <a:endParaRPr lang="he-IL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751015" y="2322576"/>
            <a:ext cx="4846320" cy="3913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קטע: בבחירות הוצבו קלפיות גם באוויר הפתוח, כדי לאפשר לאזרחים להצביע.</a:t>
            </a:r>
            <a:endParaRPr lang="he-IL" sz="1700" dirty="0"/>
          </a:p>
          <a:p>
            <a:pPr rtl="1" algn="r" indent="0" marL="0">
              <a:spcAft>
                <a:spcPts val="400"/>
              </a:spcAft>
              <a:buNone/>
            </a:pPr>
            <a:endParaRPr lang="he-IL" sz="1700" dirty="0"/>
          </a:p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ציינו והציגו את התנאי לבחירות דמוקרטיות שבא לידי ביטוי בקטע. הסבירו.</a:t>
            </a:r>
            <a:endParaRPr lang="he-IL" sz="1700" dirty="0"/>
          </a:p>
        </p:txBody>
      </p:sp>
      <p:sp>
        <p:nvSpPr>
          <p:cNvPr id="13" name="Shape 9"/>
          <p:cNvSpPr/>
          <p:nvPr/>
        </p:nvSpPr>
        <p:spPr>
          <a:xfrm>
            <a:off x="457200" y="1783080"/>
            <a:ext cx="5882335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1F5FA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94360" y="1892808"/>
            <a:ext cx="5608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5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תשובה לדוגמה</a:t>
            </a:r>
            <a:endParaRPr lang="he-IL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594360" y="2322576"/>
            <a:ext cx="5608015" cy="3913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1400"/>
              </a:spcAft>
              <a:buSzPct val="100000"/>
              <a:buChar char="•"/>
            </a:pPr>
            <a:r>
              <a:rPr lang="he-IL" altLang="en-US" sz="17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ציין: </a:t>
            </a:r>
            <a:pPr rtl="1" algn="r" indent="0" marL="0">
              <a:spcAft>
                <a:spcPts val="1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תנאי הכלליות</a:t>
            </a:r>
            <a:endParaRPr lang="he-IL" sz="1700" dirty="0"/>
          </a:p>
          <a:p>
            <a:pPr rtl="1" algn="r" marL="177800" indent="-177800">
              <a:spcAft>
                <a:spcPts val="1400"/>
              </a:spcAft>
              <a:buSzPct val="100000"/>
              <a:buChar char="•"/>
            </a:pPr>
            <a:r>
              <a:rPr lang="he-IL" altLang="en-US" sz="17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הצג: </a:t>
            </a:r>
            <a:pPr rtl="1" algn="r" indent="0" marL="0">
              <a:spcAft>
                <a:spcPts val="1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אזרח מגיל שנקבע בחוק זכאי להשתתף בבחירות</a:t>
            </a:r>
            <a:endParaRPr lang="he-IL" sz="1700" dirty="0"/>
          </a:p>
          <a:p>
            <a:pPr rtl="1" algn="r" marL="177800" indent="-177800">
              <a:spcAft>
                <a:spcPts val="1400"/>
              </a:spcAft>
              <a:buSzPct val="100000"/>
              <a:buChar char="•"/>
            </a:pPr>
            <a:r>
              <a:rPr lang="he-IL" altLang="en-US" sz="17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הסבר: </a:t>
            </a:r>
            <a:pPr rtl="1" algn="r" indent="0" marL="0">
              <a:spcAft>
                <a:spcPts val="1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הצבת קלפיות נוספות באוויר הפתוח נועדה להגדיל את מספר האזרחים שיכולים לממש בפועל את זכות ההצבעה</a:t>
            </a:r>
            <a:endParaRPr lang="he-IL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1F5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 מהבגרות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שלטון העם  ›  הכרעת הרוב</a:t>
            </a:r>
            <a:endParaRPr lang="he-IL" sz="1200" dirty="0"/>
          </a:p>
        </p:txBody>
      </p:sp>
      <p:sp>
        <p:nvSpPr>
          <p:cNvPr id="6" name="Shape 3"/>
          <p:cNvSpPr/>
          <p:nvPr/>
        </p:nvSpPr>
        <p:spPr>
          <a:xfrm>
            <a:off x="7528255" y="1143000"/>
            <a:ext cx="4206240" cy="438912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1225296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619695" y="114300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בגרות קיץ תשפ"ד • שאלון 34281</a:t>
            </a:r>
            <a:endParaRPr lang="he-IL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1143000"/>
            <a:ext cx="68881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100" i="1" dirty="0">
                <a:solidFill>
                  <a:srgbClr val="5D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השאלה בתמצית • תשובה לפי פתרון גבע (לא רשמי)</a:t>
            </a:r>
            <a:endParaRPr lang="he-IL" sz="1100" dirty="0"/>
          </a:p>
        </p:txBody>
      </p:sp>
      <p:sp>
        <p:nvSpPr>
          <p:cNvPr id="10" name="Shape 6"/>
          <p:cNvSpPr/>
          <p:nvPr/>
        </p:nvSpPr>
        <p:spPr>
          <a:xfrm>
            <a:off x="6613855" y="1783080"/>
            <a:ext cx="5120640" cy="4526280"/>
          </a:xfrm>
          <a:prstGeom prst="roundRect">
            <a:avLst>
              <a:gd name="adj" fmla="val 2424"/>
            </a:avLst>
          </a:prstGeom>
          <a:solidFill>
            <a:srgbClr val="E7EFFA"/>
          </a:solidFill>
          <a:ln w="12700">
            <a:solidFill>
              <a:srgbClr val="E7EFF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751015" y="18928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5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השאלה</a:t>
            </a:r>
            <a:endParaRPr lang="he-IL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751015" y="2322576"/>
            <a:ext cx="4846320" cy="3913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קטע: "למרות ההתנגדות של המטפלות והגננות, עברה בכנסת הצעת חוק בקריאה טרומית", שלפיה יהיה מותר להציב מצלמות בגני ילדים.</a:t>
            </a:r>
            <a:endParaRPr lang="he-IL" sz="1700" dirty="0"/>
          </a:p>
          <a:p>
            <a:pPr rtl="1" algn="r" indent="0" marL="0">
              <a:spcAft>
                <a:spcPts val="400"/>
              </a:spcAft>
              <a:buNone/>
            </a:pPr>
            <a:endParaRPr lang="he-IL" sz="1700" dirty="0"/>
          </a:p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ציינו והציגו את העיקרון הדמוקרטי שבא לידי ביטוי בקטע. הסבירו.</a:t>
            </a:r>
            <a:endParaRPr lang="he-IL" sz="1700" dirty="0"/>
          </a:p>
        </p:txBody>
      </p:sp>
      <p:sp>
        <p:nvSpPr>
          <p:cNvPr id="13" name="Shape 9"/>
          <p:cNvSpPr/>
          <p:nvPr/>
        </p:nvSpPr>
        <p:spPr>
          <a:xfrm>
            <a:off x="457200" y="1783080"/>
            <a:ext cx="5882335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1F5FA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94360" y="1892808"/>
            <a:ext cx="5608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5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תשובה לדוגמה</a:t>
            </a:r>
            <a:endParaRPr lang="he-IL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594360" y="2322576"/>
            <a:ext cx="5608015" cy="3913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1400"/>
              </a:spcAft>
              <a:buSzPct val="100000"/>
              <a:buChar char="•"/>
            </a:pPr>
            <a:r>
              <a:rPr lang="he-IL" altLang="en-US" sz="17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ציין: </a:t>
            </a:r>
            <a:pPr rtl="1" algn="r" indent="0" marL="0">
              <a:spcAft>
                <a:spcPts val="1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עקרון הכרעת הרוב</a:t>
            </a:r>
            <a:endParaRPr lang="he-IL" sz="1700" dirty="0"/>
          </a:p>
          <a:p>
            <a:pPr rtl="1" algn="r" marL="177800" indent="-177800">
              <a:spcAft>
                <a:spcPts val="1400"/>
              </a:spcAft>
              <a:buSzPct val="100000"/>
              <a:buChar char="•"/>
            </a:pPr>
            <a:r>
              <a:rPr lang="he-IL" altLang="en-US" sz="17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הצג: </a:t>
            </a:r>
            <a:pPr rtl="1" algn="r" indent="0" marL="0">
              <a:spcAft>
                <a:spcPts val="1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החלטה מתקבלת לפי רצון הרוב, בדרכי שלום, והמיעוט מציית. הסייג: אסור לרוב לפגוע באופן בלתי סביר בזכויות היסוד של המיעוט</a:t>
            </a:r>
            <a:endParaRPr lang="he-IL" sz="1700" dirty="0"/>
          </a:p>
          <a:p>
            <a:pPr rtl="1" algn="r" marL="177800" indent="-177800">
              <a:spcAft>
                <a:spcPts val="1400"/>
              </a:spcAft>
              <a:buSzPct val="100000"/>
              <a:buChar char="•"/>
            </a:pPr>
            <a:r>
              <a:rPr lang="he-IL" altLang="en-US" sz="17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הסבר: </a:t>
            </a:r>
            <a:pPr rtl="1" algn="r" indent="0" marL="0">
              <a:spcAft>
                <a:spcPts val="1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ההצעה עברה בכנסת ברוב קולות, למרות התנגדות המטפלות והגננות (המיעוט)</a:t>
            </a:r>
            <a:endParaRPr lang="he-IL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84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914400"/>
            <a:ext cx="1463040" cy="1463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1455" y="128016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960120"/>
            <a:ext cx="90827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קבוצה 3</a:t>
            </a:r>
            <a:endParaRPr lang="he-IL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371600"/>
            <a:ext cx="908273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תרבות פוליטית דמוקרטית</a:t>
            </a:r>
            <a:endParaRPr lang="he-IL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880360"/>
            <a:ext cx="1127729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בפרק הזה:</a:t>
            </a:r>
            <a:endParaRPr lang="he-IL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91840"/>
            <a:ext cx="11277295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מהי תרבות פוליטית דמוקרטית</a:t>
            </a:r>
            <a:endParaRPr lang="he-IL" sz="18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עקרון הסובלנות</a:t>
            </a:r>
            <a:endParaRPr lang="he-IL" sz="18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עקרון הפלורליזם</a:t>
            </a:r>
            <a:endParaRPr lang="he-IL" sz="18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עקרון ההסכמיות</a:t>
            </a:r>
            <a:endParaRPr lang="he-IL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תרבות פוליטית דמוקרטית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תרבות פוליטית  ›  מבוא</a:t>
            </a:r>
            <a:endParaRPr lang="he-IL" sz="1200" dirty="0"/>
          </a:p>
        </p:txBody>
      </p:sp>
      <p:sp>
        <p:nvSpPr>
          <p:cNvPr id="6" name="Shape 3"/>
          <p:cNvSpPr/>
          <p:nvPr/>
        </p:nvSpPr>
        <p:spPr>
          <a:xfrm>
            <a:off x="5699455" y="1188720"/>
            <a:ext cx="6035040" cy="4251960"/>
          </a:xfrm>
          <a:prstGeom prst="roundRect">
            <a:avLst>
              <a:gd name="adj" fmla="val 2581"/>
            </a:avLst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36615" y="1298448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זה?</a:t>
            </a:r>
            <a:endParaRPr lang="he-IL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836615" y="1728216"/>
            <a:ext cx="5760720" cy="3639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מכלול של ערכים, אמונות וכללי התנהגות שמראים שהאזרחים הפנימו לעומק את עקרונות הדמוקרטיה</a:t>
            </a:r>
            <a:endParaRPr lang="he-IL" sz="16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מתבטאת בנכונות של אזרחים להשתתף בחיים הפוליטיים, לקבל את הכרעת הרוב, לכבד זכויות אדם ואת שלטון החוק, ובפלורליזם, סובלנות והסכמיות</a:t>
            </a:r>
            <a:endParaRPr lang="he-IL" sz="16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חיונית ליציבות, לחוסן ולהמשכיות של הדמוקרטיה</a:t>
            </a:r>
            <a:endParaRPr lang="he-IL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4937760" cy="11430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2700">
            <a:solidFill>
              <a:srgbClr val="E39A9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6230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" y="1188720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הסתייגות: היא לא מתקיימת במידה שווה בכל המדינות הדמוקרטיות. אפשר שיהיו חוקים דמוקרטיים בלי תרבות דמוקרטית.</a:t>
            </a:r>
            <a:endParaRPr lang="he-IL" sz="1400" dirty="0"/>
          </a:p>
        </p:txBody>
      </p:sp>
      <p:sp>
        <p:nvSpPr>
          <p:cNvPr id="12" name="Shape 8"/>
          <p:cNvSpPr/>
          <p:nvPr/>
        </p:nvSpPr>
        <p:spPr>
          <a:xfrm>
            <a:off x="457200" y="2514600"/>
            <a:ext cx="4937760" cy="868680"/>
          </a:xfrm>
          <a:prstGeom prst="roundRect">
            <a:avLst>
              <a:gd name="adj" fmla="val 10526"/>
            </a:avLst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709160" y="2651760"/>
            <a:ext cx="594360" cy="59436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70916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</a:t>
            </a:r>
            <a:endParaRPr lang="he-IL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251460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he-IL" altLang="en-US" sz="17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סובלנות</a:t>
            </a:r>
            <a:endParaRPr lang="he-IL" sz="17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יחס מכבד לשונה</a:t>
            </a:r>
            <a:endParaRPr lang="he-IL" sz="1700" dirty="0"/>
          </a:p>
        </p:txBody>
      </p:sp>
      <p:sp>
        <p:nvSpPr>
          <p:cNvPr id="16" name="Shape 12"/>
          <p:cNvSpPr/>
          <p:nvPr/>
        </p:nvSpPr>
        <p:spPr>
          <a:xfrm>
            <a:off x="457200" y="3502152"/>
            <a:ext cx="4937760" cy="868680"/>
          </a:xfrm>
          <a:prstGeom prst="roundRect">
            <a:avLst>
              <a:gd name="adj" fmla="val 10526"/>
            </a:avLst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709160" y="3639312"/>
            <a:ext cx="594360" cy="59436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709160" y="36393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</a:t>
            </a:r>
            <a:endParaRPr lang="he-IL" sz="22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3502152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he-IL" altLang="en-US" sz="17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פלורליזם</a:t>
            </a:r>
            <a:endParaRPr lang="he-IL" sz="17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הכרה בזכות של קבוצות שונות להתקיים</a:t>
            </a:r>
            <a:endParaRPr lang="he-IL" sz="1700" dirty="0"/>
          </a:p>
        </p:txBody>
      </p:sp>
      <p:sp>
        <p:nvSpPr>
          <p:cNvPr id="20" name="Shape 16"/>
          <p:cNvSpPr/>
          <p:nvPr/>
        </p:nvSpPr>
        <p:spPr>
          <a:xfrm>
            <a:off x="457200" y="4489704"/>
            <a:ext cx="4937760" cy="868680"/>
          </a:xfrm>
          <a:prstGeom prst="roundRect">
            <a:avLst>
              <a:gd name="adj" fmla="val 10526"/>
            </a:avLst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709160" y="4626864"/>
            <a:ext cx="594360" cy="59436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4709160" y="46268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</a:t>
            </a:r>
            <a:endParaRPr lang="he-IL" sz="2200" dirty="0"/>
          </a:p>
        </p:txBody>
      </p:sp>
      <p:sp>
        <p:nvSpPr>
          <p:cNvPr id="23" name="Text 19"/>
          <p:cNvSpPr txBox="1"/>
          <p:nvPr/>
        </p:nvSpPr>
        <p:spPr>
          <a:xfrm>
            <a:off x="548640" y="4489704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he-IL" altLang="en-US" sz="17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הסכמיות</a:t>
            </a:r>
            <a:endParaRPr lang="he-IL" sz="17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הסכמה על כללי המשחק</a:t>
            </a:r>
            <a:endParaRPr lang="he-IL" sz="1700" dirty="0"/>
          </a:p>
        </p:txBody>
      </p:sp>
      <p:sp>
        <p:nvSpPr>
          <p:cNvPr id="24" name="Shape 20"/>
          <p:cNvSpPr/>
          <p:nvPr/>
        </p:nvSpPr>
        <p:spPr>
          <a:xfrm>
            <a:off x="457200" y="5623560"/>
            <a:ext cx="11277295" cy="566928"/>
          </a:xfrm>
          <a:prstGeom prst="roundRect">
            <a:avLst>
              <a:gd name="adj" fmla="val 16129"/>
            </a:avLst>
          </a:prstGeom>
          <a:solidFill>
            <a:srgbClr val="FFF7D6"/>
          </a:solidFill>
          <a:ln w="12700">
            <a:solidFill>
              <a:srgbClr val="E8C547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5760720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94360" y="562356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לזכירה: הדמוקרטיה יושבת על סַפָּ"ה ← ס׳ובלנות, פ׳לורליזם, ה׳סכמיות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סובלנות • פלורליזם • הסכמיות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תרבות פוליטית  ›  3 עקרונות</a:t>
            </a:r>
            <a:endParaRPr lang="he-IL" sz="1200" dirty="0"/>
          </a:p>
        </p:txBody>
      </p:sp>
      <p:sp>
        <p:nvSpPr>
          <p:cNvPr id="6" name="Shape 3"/>
          <p:cNvSpPr/>
          <p:nvPr/>
        </p:nvSpPr>
        <p:spPr>
          <a:xfrm>
            <a:off x="8158277" y="118872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95437" y="1298448"/>
            <a:ext cx="33018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סובלנות</a:t>
            </a:r>
            <a:endParaRPr lang="he-IL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95437" y="1728216"/>
            <a:ext cx="3301898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מה: </a:t>
            </a:r>
            <a:pPr rtl="1" algn="r" indent="0" marL="0">
              <a:spcAft>
                <a:spcPts val="8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נכונות של הפרט והשלטון לנהוג בכבוד כלפי השונה ולאפשר לאחרים להביע עמדות שמעוררות התנגדות או כעס</a:t>
            </a:r>
            <a:endParaRPr lang="he-IL" sz="1400" dirty="0"/>
          </a:p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מתבטא: </a:t>
            </a:r>
            <a:pPr rtl="1" algn="r" indent="0" marL="0">
              <a:spcAft>
                <a:spcPts val="8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הימנעות מאלימות מילולית ופיזית, והשלטון לא מדכא דעות ביקורתיות</a:t>
            </a:r>
            <a:endParaRPr lang="he-IL" sz="1400" dirty="0"/>
          </a:p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חשיבות: </a:t>
            </a:r>
            <a:pPr rtl="1" algn="r" indent="0" marL="0">
              <a:spcAft>
                <a:spcPts val="8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מאפשרת מימוש זכויות ו"שוק חופשי של דעות", שומרת על יציבות ומונעת מאבקים אלימים</a:t>
            </a:r>
            <a:endParaRPr lang="he-IL" sz="1400" dirty="0"/>
          </a:p>
        </p:txBody>
      </p:sp>
      <p:sp>
        <p:nvSpPr>
          <p:cNvPr id="9" name="Shape 6"/>
          <p:cNvSpPr/>
          <p:nvPr/>
        </p:nvSpPr>
        <p:spPr>
          <a:xfrm>
            <a:off x="4307738" y="118872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44898" y="1298448"/>
            <a:ext cx="33018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פלורליזם</a:t>
            </a:r>
            <a:endParaRPr lang="he-IL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444898" y="1728216"/>
            <a:ext cx="3301898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מה: </a:t>
            </a:r>
            <a:pPr rtl="1" algn="r" indent="0" marL="0">
              <a:spcAft>
                <a:spcPts val="8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הכרה מוסרית ומעשית בזכות של קבוצות, עמדות, תרבויות ואמונות שונות ואפילו מנוגדות להתקיים באותה חברה</a:t>
            </a:r>
            <a:endParaRPr lang="he-IL" sz="1400" dirty="0"/>
          </a:p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תפקיד המדינה: </a:t>
            </a:r>
            <a:pPr rtl="1" algn="r" indent="0" marL="0">
              <a:spcAft>
                <a:spcPts val="8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לעודד ולתמוך באופן ממוסד ביכולת הקבוצות להתארגן, לשמור על ייחודן ולהתחרות ביניהן במסגרת החוק</a:t>
            </a:r>
            <a:endParaRPr lang="he-IL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118872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1298448"/>
            <a:ext cx="33018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הסכמיות</a:t>
            </a:r>
            <a:endParaRPr lang="he-IL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1728216"/>
            <a:ext cx="3301898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מה: </a:t>
            </a:r>
            <a:pPr rtl="1" algn="r" indent="0" marL="0">
              <a:spcAft>
                <a:spcPts val="8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הסכמה רחבה בין האזרחים והקבוצות על "כללי המשחק" הדמוקרטיים ועל סוגיות יסוד של קיום המדינה ואופייה</a:t>
            </a:r>
            <a:endParaRPr lang="he-IL" sz="1400" dirty="0"/>
          </a:p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חשיבות: </a:t>
            </a:r>
            <a:pPr rtl="1" algn="r" indent="0" marL="0">
              <a:spcAft>
                <a:spcPts val="8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"הדבק" שמאפשר לחברה עם הרבה מחלוקות להתנהל ביציבות, בלי אנרכיה או אלימות, ולהתווכח בדרכי שלום</a:t>
            </a:r>
            <a:endParaRPr lang="he-IL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5669280"/>
            <a:ext cx="11277295" cy="685800"/>
          </a:xfrm>
          <a:prstGeom prst="roundRect">
            <a:avLst>
              <a:gd name="adj" fmla="val 13333"/>
            </a:avLst>
          </a:prstGeom>
          <a:solidFill>
            <a:srgbClr val="FFF7D6"/>
          </a:solidFill>
          <a:ln w="12700">
            <a:solidFill>
              <a:srgbClr val="E8C547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5865876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94360" y="566928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הבדל חשוב: סובלנות = התנהגות (לא לפגוע בשונה). פלורליזם = הכרה בזכות הקבוצות להתקיים, והמדינה אף תומכת. הסכמיות = מסכימים על כללי המשחק גם כשלא מסכימים על התוכן.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 מהבגרות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תרבות פוליטית  ›  הסכמיות</a:t>
            </a:r>
            <a:endParaRPr lang="he-IL" sz="1200" dirty="0"/>
          </a:p>
        </p:txBody>
      </p:sp>
      <p:sp>
        <p:nvSpPr>
          <p:cNvPr id="6" name="Shape 3"/>
          <p:cNvSpPr/>
          <p:nvPr/>
        </p:nvSpPr>
        <p:spPr>
          <a:xfrm>
            <a:off x="7528255" y="1143000"/>
            <a:ext cx="4206240" cy="438912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1225296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619695" y="114300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בגרות חורף תשפ"ב • שאלון 34281</a:t>
            </a:r>
            <a:endParaRPr lang="he-IL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1143000"/>
            <a:ext cx="68881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100" i="1" dirty="0">
                <a:solidFill>
                  <a:srgbClr val="5D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השאלה בתמצית • תשובה לפי פתרון גבע (לא רשמי)</a:t>
            </a:r>
            <a:endParaRPr lang="he-IL" sz="1100" dirty="0"/>
          </a:p>
        </p:txBody>
      </p:sp>
      <p:sp>
        <p:nvSpPr>
          <p:cNvPr id="10" name="Shape 6"/>
          <p:cNvSpPr/>
          <p:nvPr/>
        </p:nvSpPr>
        <p:spPr>
          <a:xfrm>
            <a:off x="6613855" y="1783080"/>
            <a:ext cx="5120640" cy="4526280"/>
          </a:xfrm>
          <a:prstGeom prst="roundRect">
            <a:avLst>
              <a:gd name="adj" fmla="val 2424"/>
            </a:avLst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751015" y="18928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השאלה</a:t>
            </a:r>
            <a:endParaRPr lang="he-IL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751015" y="2322576"/>
            <a:ext cx="4846320" cy="3913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קטע מנאום של נשיא המדינה, שקורא למצוא מכנה משותף בחברה הישראלית למרות המחלוקות הרבות בה.</a:t>
            </a:r>
            <a:endParaRPr lang="he-IL" sz="1700" dirty="0"/>
          </a:p>
          <a:p>
            <a:pPr rtl="1" algn="r" indent="0" marL="0">
              <a:spcAft>
                <a:spcPts val="400"/>
              </a:spcAft>
              <a:buNone/>
            </a:pPr>
            <a:endParaRPr lang="he-IL" sz="1700" dirty="0"/>
          </a:p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הציגו את העיקרון שבא לידי ביטוי בדברי הנשיא, והסבירו כיצד הוא בא לידי ביטוי.</a:t>
            </a:r>
            <a:endParaRPr lang="he-IL" sz="1700" dirty="0"/>
          </a:p>
        </p:txBody>
      </p:sp>
      <p:sp>
        <p:nvSpPr>
          <p:cNvPr id="13" name="Shape 9"/>
          <p:cNvSpPr/>
          <p:nvPr/>
        </p:nvSpPr>
        <p:spPr>
          <a:xfrm>
            <a:off x="457200" y="1783080"/>
            <a:ext cx="5882335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94360" y="1892808"/>
            <a:ext cx="5608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תשובה לדוגמה</a:t>
            </a:r>
            <a:endParaRPr lang="he-IL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594360" y="2322576"/>
            <a:ext cx="5608015" cy="3913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1400"/>
              </a:spcAft>
              <a:buSzPct val="100000"/>
              <a:buChar char="•"/>
            </a:pPr>
            <a:r>
              <a:rPr lang="he-IL" altLang="en-US" sz="17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ציין: </a:t>
            </a:r>
            <a:pPr rtl="1" algn="r" indent="0" marL="0">
              <a:spcAft>
                <a:spcPts val="1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עקרון ההסכמיות</a:t>
            </a:r>
            <a:endParaRPr lang="he-IL" sz="1700" dirty="0"/>
          </a:p>
          <a:p>
            <a:pPr rtl="1" algn="r" marL="177800" indent="-177800">
              <a:spcAft>
                <a:spcPts val="1400"/>
              </a:spcAft>
              <a:buSzPct val="100000"/>
              <a:buChar char="•"/>
            </a:pPr>
            <a:r>
              <a:rPr lang="he-IL" altLang="en-US" sz="17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הצג: </a:t>
            </a:r>
            <a:pPr rtl="1" algn="r" indent="0" marL="0">
              <a:spcAft>
                <a:spcPts val="1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הסכמה רחבה בין האזרחים והקבוצות על "כללי המשחק" ועל סוגיות יסוד. היא "הדבק" שמאפשר יציבות ומחלוקת בדרכי שלום</a:t>
            </a:r>
            <a:endParaRPr lang="he-IL" sz="1700" dirty="0"/>
          </a:p>
          <a:p>
            <a:pPr rtl="1" algn="r" marL="177800" indent="-177800">
              <a:spcAft>
                <a:spcPts val="1400"/>
              </a:spcAft>
              <a:buSzPct val="100000"/>
              <a:buChar char="•"/>
            </a:pPr>
            <a:r>
              <a:rPr lang="he-IL" altLang="en-US" sz="17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הסבר: </a:t>
            </a:r>
            <a:pPr rtl="1" algn="r" indent="0" marL="0">
              <a:spcAft>
                <a:spcPts val="1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הנשיא מבקש הסכמה רחבה בחברה מרובת מחלוקות, ומדגיש כללי משחק משותפים שצריך לשמור עליהם כדי לחיות יחד</a:t>
            </a:r>
            <a:endParaRPr lang="he-IL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6C34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914400"/>
            <a:ext cx="1463040" cy="1463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1455" y="128016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960120"/>
            <a:ext cx="90827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קבוצה 4</a:t>
            </a:r>
            <a:endParaRPr lang="he-IL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371600"/>
            <a:ext cx="908273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הגבלת השלטון ושלטון החוק</a:t>
            </a:r>
            <a:endParaRPr lang="he-IL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880360"/>
            <a:ext cx="1127729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בפרק הזה:</a:t>
            </a:r>
            <a:endParaRPr lang="he-IL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91840"/>
            <a:ext cx="11277295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עקרון הגבלת השלטון: למה צריך אותו</a:t>
            </a:r>
            <a:endParaRPr lang="he-IL" sz="18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עקרון הפרדת הרשויות</a:t>
            </a:r>
            <a:endParaRPr lang="he-IL" sz="18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מנגנוני פיקוח פורמליים ובלתי פורמליים</a:t>
            </a:r>
            <a:endParaRPr lang="he-IL" sz="18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עקרון שלטון החוק</a:t>
            </a:r>
            <a:endParaRPr lang="he-IL" sz="18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סוגי עבריינות</a:t>
            </a:r>
            <a:endParaRPr lang="he-IL" sz="18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פקודה בלתי חוקית ופקודה בלתי חוקית בעליל</a:t>
            </a:r>
            <a:endParaRPr lang="he-IL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הגבלת השלטון והפרדת רשויות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הגבלת השלטון  ›  הגבלת השלטון</a:t>
            </a:r>
            <a:endParaRPr lang="he-IL" sz="1200" dirty="0"/>
          </a:p>
        </p:txBody>
      </p:sp>
      <p:sp>
        <p:nvSpPr>
          <p:cNvPr id="6" name="Shape 3"/>
          <p:cNvSpPr/>
          <p:nvPr/>
        </p:nvSpPr>
        <p:spPr>
          <a:xfrm>
            <a:off x="6156655" y="1188720"/>
            <a:ext cx="5577840" cy="4297680"/>
          </a:xfrm>
          <a:prstGeom prst="roundRect">
            <a:avLst>
              <a:gd name="adj" fmla="val 2553"/>
            </a:avLst>
          </a:prstGeom>
          <a:solidFill>
            <a:srgbClr val="F1E8F6"/>
          </a:solidFill>
          <a:ln w="12700">
            <a:solidFill>
              <a:srgbClr val="F1E8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93815" y="129844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עקרון הגבלת השלטון</a:t>
            </a:r>
            <a:endParaRPr lang="he-IL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293815" y="1728216"/>
            <a:ext cx="530352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למה: </a:t>
            </a:r>
            <a:pPr rtl="1" algn="r" indent="0" marL="0">
              <a:spcAft>
                <a:spcPts val="8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בידי השלטון (בעיקר הרשות המבצעת) יש עוצמה עצומה: תקציב, קרקעות, צבא, משטרה, מאגרי מידע וכוח אדם</a:t>
            </a:r>
            <a:endParaRPr lang="he-IL" sz="1400" dirty="0"/>
          </a:p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הסכנה: </a:t>
            </a:r>
            <a:pPr rtl="1" algn="r" indent="0" marL="0">
              <a:spcAft>
                <a:spcPts val="8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שהשלטון ינצל את כוחו לרעה, יהפוך לעריץ ויפגע בזכויות ובכללי המשחק</a:t>
            </a:r>
            <a:endParaRPr lang="he-IL" sz="1400" dirty="0"/>
          </a:p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הפתרון: </a:t>
            </a:r>
            <a:pPr rtl="1" algn="r" indent="0" marL="0">
              <a:spcAft>
                <a:spcPts val="8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מנגנונים שמרסנים את השלטון: הפרדת רשויות, חוקה, מנגנוני פיקוח פורמליים ובלתי פורמליים</a:t>
            </a:r>
            <a:endParaRPr lang="he-IL" sz="1400" dirty="0"/>
          </a:p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ההנחה: </a:t>
            </a:r>
            <a:pPr rtl="1" algn="r" indent="0" marL="0">
              <a:spcAft>
                <a:spcPts val="8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האזרחים הם אוטונומיים ותבוניים ומסוגלים לפקח על השלטון</a:t>
            </a:r>
            <a:endParaRPr lang="he-IL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188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עקרון הפרדת הרשויות</a:t>
            </a:r>
            <a:endParaRPr lang="he-IL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600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הכוח השלטוני מחולק בין 3 רשויות. לכל רשות סמכות ייחודית בתחומה, אבל לא בלעדית.</a:t>
            </a:r>
            <a:endParaRPr lang="he-IL" sz="1400" dirty="0"/>
          </a:p>
        </p:txBody>
      </p:sp>
      <p:sp>
        <p:nvSpPr>
          <p:cNvPr id="11" name="Shape 8"/>
          <p:cNvSpPr/>
          <p:nvPr/>
        </p:nvSpPr>
        <p:spPr>
          <a:xfrm>
            <a:off x="4206240" y="2377440"/>
            <a:ext cx="1691640" cy="1691640"/>
          </a:xfrm>
          <a:prstGeom prst="ellipse">
            <a:avLst/>
          </a:prstGeom>
          <a:solidFill>
            <a:srgbClr val="6C348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06240" y="2377440"/>
            <a:ext cx="1691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he-IL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מחוקקת</a:t>
            </a:r>
            <a:endParaRPr lang="he-IL" sz="1700" dirty="0"/>
          </a:p>
          <a:p>
            <a:pPr algn="ctr" indent="0" marL="0">
              <a:buNone/>
            </a:pPr>
            <a:r>
              <a:rPr lang="he-IL" alt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הכנסת</a:t>
            </a:r>
            <a:endParaRPr lang="he-IL" sz="1700" dirty="0"/>
          </a:p>
        </p:txBody>
      </p:sp>
      <p:sp>
        <p:nvSpPr>
          <p:cNvPr id="13" name="Shape 10"/>
          <p:cNvSpPr/>
          <p:nvPr/>
        </p:nvSpPr>
        <p:spPr>
          <a:xfrm>
            <a:off x="2377440" y="2377440"/>
            <a:ext cx="1691640" cy="1691640"/>
          </a:xfrm>
          <a:prstGeom prst="ellipse">
            <a:avLst/>
          </a:prstGeom>
          <a:solidFill>
            <a:srgbClr val="6C348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377440" y="2377440"/>
            <a:ext cx="1691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he-IL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מבצעת</a:t>
            </a:r>
            <a:endParaRPr lang="he-IL" sz="1700" dirty="0"/>
          </a:p>
          <a:p>
            <a:pPr algn="ctr" indent="0" marL="0">
              <a:buNone/>
            </a:pPr>
            <a:r>
              <a:rPr lang="he-IL" alt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הממשלה</a:t>
            </a:r>
            <a:endParaRPr lang="he-IL" sz="1700" dirty="0"/>
          </a:p>
        </p:txBody>
      </p:sp>
      <p:sp>
        <p:nvSpPr>
          <p:cNvPr id="15" name="Shape 12"/>
          <p:cNvSpPr/>
          <p:nvPr/>
        </p:nvSpPr>
        <p:spPr>
          <a:xfrm>
            <a:off x="548640" y="2377440"/>
            <a:ext cx="1691640" cy="1691640"/>
          </a:xfrm>
          <a:prstGeom prst="ellipse">
            <a:avLst/>
          </a:prstGeom>
          <a:solidFill>
            <a:srgbClr val="6C348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2377440"/>
            <a:ext cx="1691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he-IL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שופטת</a:t>
            </a:r>
            <a:endParaRPr lang="he-IL" sz="1700" dirty="0"/>
          </a:p>
          <a:p>
            <a:pPr algn="ctr" indent="0" marL="0">
              <a:buNone/>
            </a:pPr>
            <a:r>
              <a:rPr lang="he-IL" alt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בתי המשפט</a:t>
            </a:r>
            <a:endParaRPr lang="he-IL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1605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he-IL" altLang="en-US" sz="16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  איזונים ובלמים  ⇄</a:t>
            </a:r>
            <a:endParaRPr lang="he-IL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5720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בין הרשויות יש פיקוח ובקרה הדדיים, כדי למנוע שימוש לרעה בסמכות ולהגן על זכויות האדם.</a:t>
            </a:r>
            <a:endParaRPr lang="he-IL" sz="1400" dirty="0"/>
          </a:p>
        </p:txBody>
      </p:sp>
      <p:sp>
        <p:nvSpPr>
          <p:cNvPr id="19" name="Shape 16"/>
          <p:cNvSpPr/>
          <p:nvPr/>
        </p:nvSpPr>
        <p:spPr>
          <a:xfrm>
            <a:off x="457200" y="5669280"/>
            <a:ext cx="11277295" cy="566928"/>
          </a:xfrm>
          <a:prstGeom prst="roundRect">
            <a:avLst>
              <a:gd name="adj" fmla="val 16129"/>
            </a:avLst>
          </a:prstGeom>
          <a:solidFill>
            <a:srgbClr val="FFF7D6"/>
          </a:solidFill>
          <a:ln w="12700">
            <a:solidFill>
              <a:srgbClr val="E8C547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5806440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94360" y="566928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הקשר: הגבלת השלטון היא העיקרון. הפרדת רשויות ומנגנוני פיקוח הם האמצעים להגשמתו.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מנגנוני פיקוח וביקורת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הגבלת השלטון  ›  פיקוח</a:t>
            </a:r>
            <a:endParaRPr lang="he-IL" sz="1200" dirty="0"/>
          </a:p>
        </p:txBody>
      </p:sp>
      <p:sp>
        <p:nvSpPr>
          <p:cNvPr id="6" name="Shape 3"/>
          <p:cNvSpPr/>
          <p:nvPr/>
        </p:nvSpPr>
        <p:spPr>
          <a:xfrm>
            <a:off x="6233008" y="1188720"/>
            <a:ext cx="5501488" cy="4206240"/>
          </a:xfrm>
          <a:prstGeom prst="roundRect">
            <a:avLst>
              <a:gd name="adj" fmla="val 2609"/>
            </a:avLst>
          </a:prstGeom>
          <a:solidFill>
            <a:srgbClr val="F1E8F6"/>
          </a:solidFill>
          <a:ln w="12700">
            <a:solidFill>
              <a:srgbClr val="F1E8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70168" y="1298448"/>
            <a:ext cx="522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  מנגנונים פורמליים (מוסדיים)</a:t>
            </a:r>
            <a:endParaRPr lang="he-IL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370168" y="1728216"/>
            <a:ext cx="5227168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מי: </a:t>
            </a:r>
            <a:pPr rtl="1" algn="r" indent="0" marL="0">
              <a:spcAft>
                <a:spcPts val="1000"/>
              </a:spcAft>
              <a:buNone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גופים שהוקמו לפי חוק: הכנסת, האופוזיציה, מבקר המדינה, נציב תלונות הציבור, מערכת המשפט (בג"ץ), היועמ"ש</a:t>
            </a:r>
            <a:endParaRPr lang="he-IL" sz="15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תפקיד: </a:t>
            </a:r>
            <a:pPr rtl="1" algn="r" indent="0" marL="0">
              <a:spcAft>
                <a:spcPts val="1000"/>
              </a:spcAft>
              <a:buNone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מוגדר בחוק: לפקח על הרשות המבצעת</a:t>
            </a:r>
            <a:endParaRPr lang="he-IL" sz="15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כלים: </a:t>
            </a:r>
            <a:pPr rtl="1" algn="r" indent="0" marL="0">
              <a:spcAft>
                <a:spcPts val="1000"/>
              </a:spcAft>
              <a:buNone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דרישת מידע, חקירה, דיווח ופרסום, ולפעמים חיוב השלטון לתקן ליקויים</a:t>
            </a:r>
            <a:endParaRPr lang="he-IL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5501488" cy="4206240"/>
          </a:xfrm>
          <a:prstGeom prst="roundRect">
            <a:avLst>
              <a:gd name="adj" fmla="val 2609"/>
            </a:avLst>
          </a:prstGeom>
          <a:solidFill>
            <a:srgbClr val="F1E8F6"/>
          </a:solidFill>
          <a:ln w="12700">
            <a:solidFill>
              <a:srgbClr val="F1E8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298448"/>
            <a:ext cx="522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📣  מנגנונים בלתי פורמליים (חוץ-מוסדיים)</a:t>
            </a:r>
            <a:endParaRPr lang="he-IL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1728216"/>
            <a:ext cx="5227168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מי: </a:t>
            </a:r>
            <a:pPr rtl="1" algn="r" indent="0" marL="0">
              <a:spcAft>
                <a:spcPts val="1000"/>
              </a:spcAft>
              <a:buNone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החברה האזרחית: תקשורת, ארגונים לא ממשלתיים, קבוצות אינטרס, הפגנות, שביתות, עצומות, סאטירה</a:t>
            </a:r>
            <a:endParaRPr lang="he-IL" sz="15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תפקיד: </a:t>
            </a:r>
            <a:pPr rtl="1" algn="r" indent="0" marL="0">
              <a:spcAft>
                <a:spcPts val="1000"/>
              </a:spcAft>
              <a:buNone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מפקחים ביוזמתם, בלי הסמכה בחוק</a:t>
            </a:r>
            <a:endParaRPr lang="he-IL" sz="15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כלים: </a:t>
            </a:r>
            <a:pPr rtl="1" algn="r" indent="0" marL="0">
              <a:spcAft>
                <a:spcPts val="1000"/>
              </a:spcAft>
              <a:buNone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חשיפת מחדלים, השפעה על דעת הקהל ולחץ ציבורי ופוליטי</a:t>
            </a:r>
            <a:endParaRPr lang="he-IL" sz="15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חיוני מהתרבות הפוליטית הדמוקרטית</a:t>
            </a:r>
            <a:endParaRPr lang="he-IL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5577840"/>
            <a:ext cx="11277295" cy="685800"/>
          </a:xfrm>
          <a:prstGeom prst="roundRect">
            <a:avLst>
              <a:gd name="adj" fmla="val 13333"/>
            </a:avLst>
          </a:prstGeom>
          <a:solidFill>
            <a:srgbClr val="FFF7D6"/>
          </a:solidFill>
          <a:ln w="12700">
            <a:solidFill>
              <a:srgbClr val="E8C54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5774436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94360" y="557784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מזהים? שואלים: "האם הגוף הזה קיים מכוח חוק ותפקידו לפקח?" כן ← פורמלי. פעל ביוזמתו (עיתונאי, עמותה, הפגנה) ← בלתי פורמלי.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עקרון שלטון החוק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הגבלת השלטון  ›  שלטון החוק</a:t>
            </a:r>
            <a:endParaRPr lang="he-IL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11277295" cy="914400"/>
          </a:xfrm>
          <a:prstGeom prst="roundRect">
            <a:avLst>
              <a:gd name="adj" fmla="val 12000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18872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החוק הוא העליון: כולם חייבים לציית לו, כולל השלטון, וגם כשהחוק שנוי במחלוקת.</a:t>
            </a:r>
            <a:endParaRPr lang="he-IL" sz="2000" dirty="0"/>
          </a:p>
        </p:txBody>
      </p:sp>
      <p:sp>
        <p:nvSpPr>
          <p:cNvPr id="8" name="Shape 5"/>
          <p:cNvSpPr/>
          <p:nvPr/>
        </p:nvSpPr>
        <p:spPr>
          <a:xfrm>
            <a:off x="6233008" y="2286000"/>
            <a:ext cx="5501488" cy="1024128"/>
          </a:xfrm>
          <a:prstGeom prst="roundRect">
            <a:avLst>
              <a:gd name="adj" fmla="val 10714"/>
            </a:avLst>
          </a:prstGeom>
          <a:solidFill>
            <a:srgbClr val="F1E8F6"/>
          </a:solidFill>
          <a:ln w="12700">
            <a:solidFill>
              <a:srgbClr val="F1E8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70168" y="2395728"/>
            <a:ext cx="522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חקיקה דמוקרטית</a:t>
            </a:r>
            <a:endParaRPr lang="he-IL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370168" y="2743200"/>
            <a:ext cx="522716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החוקים נחקקים ע"י הרשות המחוקקת, שמייצגת את העם, בהליך פומבי</a:t>
            </a:r>
            <a:endParaRPr lang="he-IL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5501488" cy="1024128"/>
          </a:xfrm>
          <a:prstGeom prst="roundRect">
            <a:avLst>
              <a:gd name="adj" fmla="val 10714"/>
            </a:avLst>
          </a:prstGeom>
          <a:solidFill>
            <a:srgbClr val="F1E8F6"/>
          </a:solidFill>
          <a:ln w="12700">
            <a:solidFill>
              <a:srgbClr val="F1E8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2395728"/>
            <a:ext cx="522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מותר?</a:t>
            </a:r>
            <a:endParaRPr lang="he-IL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2743200"/>
            <a:ext cx="522716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לאדם מותר הכול, כל עוד החוק לא אוסר. לשלטון הכול אסור, כל עוד החוק לא הסמיך אותו</a:t>
            </a:r>
            <a:endParaRPr lang="he-IL" sz="1400" dirty="0"/>
          </a:p>
        </p:txBody>
      </p:sp>
      <p:sp>
        <p:nvSpPr>
          <p:cNvPr id="14" name="Shape 11"/>
          <p:cNvSpPr/>
          <p:nvPr/>
        </p:nvSpPr>
        <p:spPr>
          <a:xfrm>
            <a:off x="6233008" y="3429000"/>
            <a:ext cx="5501488" cy="1024128"/>
          </a:xfrm>
          <a:prstGeom prst="roundRect">
            <a:avLst>
              <a:gd name="adj" fmla="val 10714"/>
            </a:avLst>
          </a:prstGeom>
          <a:solidFill>
            <a:srgbClr val="F1E8F6"/>
          </a:solidFill>
          <a:ln w="12700">
            <a:solidFill>
              <a:srgbClr val="F1E8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70168" y="3538728"/>
            <a:ext cx="522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כלליות</a:t>
            </a:r>
            <a:endParaRPr lang="he-IL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370168" y="3886200"/>
            <a:ext cx="522716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החוק חל על כולם ונאכף על כולם באופן שווה</a:t>
            </a:r>
            <a:endParaRPr lang="he-IL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3429000"/>
            <a:ext cx="5501488" cy="1024128"/>
          </a:xfrm>
          <a:prstGeom prst="roundRect">
            <a:avLst>
              <a:gd name="adj" fmla="val 10714"/>
            </a:avLst>
          </a:prstGeom>
          <a:solidFill>
            <a:srgbClr val="F1E8F6"/>
          </a:solidFill>
          <a:ln w="12700">
            <a:solidFill>
              <a:srgbClr val="F1E8F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" y="3538728"/>
            <a:ext cx="522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בהירות ופומביות</a:t>
            </a:r>
            <a:endParaRPr lang="he-IL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3886200"/>
            <a:ext cx="522716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אחד צריך להבין את החוק ולדעת אם הוא פועל לפיו</a:t>
            </a:r>
            <a:endParaRPr lang="he-IL" sz="1400" dirty="0"/>
          </a:p>
        </p:txBody>
      </p:sp>
      <p:sp>
        <p:nvSpPr>
          <p:cNvPr id="20" name="Shape 17"/>
          <p:cNvSpPr/>
          <p:nvPr/>
        </p:nvSpPr>
        <p:spPr>
          <a:xfrm>
            <a:off x="6233008" y="4572000"/>
            <a:ext cx="5501488" cy="1024128"/>
          </a:xfrm>
          <a:prstGeom prst="roundRect">
            <a:avLst>
              <a:gd name="adj" fmla="val 10714"/>
            </a:avLst>
          </a:prstGeom>
          <a:solidFill>
            <a:srgbClr val="F1E8F6"/>
          </a:solidFill>
          <a:ln w="12700">
            <a:solidFill>
              <a:srgbClr val="F1E8F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70168" y="4681728"/>
            <a:ext cx="522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תוכן דמוקרטי</a:t>
            </a:r>
            <a:endParaRPr lang="he-IL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370168" y="5029200"/>
            <a:ext cx="522716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תוכן החוק צריך להתאים לערכים דמוקרטיים ולהגן על זכויות אדם</a:t>
            </a:r>
            <a:endParaRPr lang="he-IL" sz="1400" dirty="0"/>
          </a:p>
        </p:txBody>
      </p:sp>
      <p:sp>
        <p:nvSpPr>
          <p:cNvPr id="23" name="Shape 20"/>
          <p:cNvSpPr/>
          <p:nvPr/>
        </p:nvSpPr>
        <p:spPr>
          <a:xfrm>
            <a:off x="457200" y="4572000"/>
            <a:ext cx="5501488" cy="1024128"/>
          </a:xfrm>
          <a:prstGeom prst="roundRect">
            <a:avLst>
              <a:gd name="adj" fmla="val 10714"/>
            </a:avLst>
          </a:prstGeom>
          <a:solidFill>
            <a:srgbClr val="F1E8F6"/>
          </a:solidFill>
          <a:ln w="12700">
            <a:solidFill>
              <a:srgbClr val="F1E8F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94360" y="4681728"/>
            <a:ext cx="522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איסורים</a:t>
            </a:r>
            <a:endParaRPr lang="he-IL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94360" y="5029200"/>
            <a:ext cx="522716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אין חקיקה פרסונלית (לאדם מסוים) ואין חקיקה רטרואקטיבית (למפרע)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סוגי עבריינות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הגבלת השלטון  ›  עבריינות</a:t>
            </a:r>
            <a:endParaRPr lang="he-IL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058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בכל הגדרה מדגישים 3 דברים: מי המבצע, מה המניע, ומה יחס החברה. בכל הסוגים: אין נכונות לשאת בעונש, והמדינה אוכפת את החוק.</a:t>
            </a:r>
            <a:endParaRPr lang="he-IL" sz="15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7729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291840"/>
                <a:gridCol w="2926080"/>
                <a:gridCol w="1947672"/>
              </a:tblGrid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יחס החברה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348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המניע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348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המבצע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348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סוג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3483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שלילי: סכנה לסדר הציבורי ולשלום הציבור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אינטרס אישי, לא כדי לשנות מדיניות או חוק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כל אדם, בעבירה אקטיבית (גניבה, אלימות, רצח)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פלילית רגילה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חמורה במיוחד: מעבר להפרת החוק, פוגעת באמון הציבור בשלטון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טובת הנאה אישית (שוחד, מעילה)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נושא משרה ציבורית, תוך שימוש בסמכות או במשאבים ציבוריים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שלטונית אישית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שלילי: פוגעת באמון ויוצרת אפליה בין קבוצות. חלק מהציבור שנהנה ממנה יגלה סלחנות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להיטיב עם ציבור מסוים או עם "טובת הכלל" לדעתו (הטיית מכרזים לבוחרים, זיוף מסמכים לטובת תקציב)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נושא משרה ציבורית, תוך שימוש בסמכות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שלטונית ציבורית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5486400"/>
            <a:ext cx="11277295" cy="731520"/>
          </a:xfrm>
          <a:prstGeom prst="roundRect">
            <a:avLst>
              <a:gd name="adj" fmla="val 12500"/>
            </a:avLst>
          </a:prstGeom>
          <a:solidFill>
            <a:srgbClr val="FFF7D6"/>
          </a:solidFill>
          <a:ln w="12700">
            <a:solidFill>
              <a:srgbClr val="E8C54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5705856"/>
            <a:ext cx="292608" cy="29260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94360" y="5486400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טריק להבחנה: נושא משרה ציבורית? אם הרוויח הוא עצמו ← שלטונית אישית. אם הרוויח ציבור מסוים ← שלטונית ציבורית. לא נושא משרה ← פלילית רגילה.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פקודה בלתי חוקית מול בלתי חוקית בעליל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הגבלת השלטון  ›  פקודות</a:t>
            </a:r>
            <a:endParaRPr lang="he-IL" sz="1200" dirty="0"/>
          </a:p>
        </p:txBody>
      </p:sp>
      <p:sp>
        <p:nvSpPr>
          <p:cNvPr id="6" name="Shape 3"/>
          <p:cNvSpPr/>
          <p:nvPr/>
        </p:nvSpPr>
        <p:spPr>
          <a:xfrm>
            <a:off x="6233008" y="1188720"/>
            <a:ext cx="5501488" cy="4114800"/>
          </a:xfrm>
          <a:prstGeom prst="roundRect">
            <a:avLst>
              <a:gd name="adj" fmla="val 2667"/>
            </a:avLst>
          </a:prstGeom>
          <a:solidFill>
            <a:srgbClr val="F1E8F6"/>
          </a:solidFill>
          <a:ln w="12700">
            <a:solidFill>
              <a:srgbClr val="F1E8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70168" y="1298448"/>
            <a:ext cx="522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פקודה בלתי חוקית</a:t>
            </a:r>
            <a:endParaRPr lang="he-IL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370168" y="1728216"/>
            <a:ext cx="5227168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הוראה ממפקד או רשות מוסמכים, שסותרת את החוק או את הנחיות הצבא, או חורגת מסמכות נותן הפקודה</a:t>
            </a:r>
            <a:endParaRPr lang="he-IL" sz="1500" dirty="0"/>
          </a:p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בצבא: </a:t>
            </a:r>
            <a:pPr rtl="1" algn="r" indent="0" marL="0">
              <a:spcAft>
                <a:spcPts val="800"/>
              </a:spcAft>
              <a:buNone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חובה לציית! מי שלא מציית יועמד לדין</a:t>
            </a:r>
            <a:endParaRPr lang="he-IL" sz="1500" dirty="0"/>
          </a:p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באזרחות: </a:t>
            </a:r>
            <a:pPr rtl="1" algn="r" indent="0" marL="0">
              <a:spcAft>
                <a:spcPts val="800"/>
              </a:spcAft>
              <a:buNone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אין חובה לציית</a:t>
            </a:r>
            <a:endParaRPr lang="he-IL" sz="1500" dirty="0"/>
          </a:p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נותן הפקודה אחראי להפרת החוק. מקבל הפקודה יכול להתלונן עליו</a:t>
            </a:r>
            <a:endParaRPr lang="he-IL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5501488" cy="4114800"/>
          </a:xfrm>
          <a:prstGeom prst="roundRect">
            <a:avLst>
              <a:gd name="adj" fmla="val 2667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298448"/>
            <a:ext cx="522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🏴  פקודה בלתי חוקית בעליל</a:t>
            </a:r>
            <a:endParaRPr lang="he-IL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1728216"/>
            <a:ext cx="5227168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הוראה ממפקד או רשות מוסמכים, שסותרת ערכי מוסר ומצפון בסיסיים</a:t>
            </a:r>
            <a:endParaRPr lang="he-IL" sz="1500" dirty="0"/>
          </a:p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"דגל שחור מתנוסס מעליה", "אי חוקיות הדוקרת את העין ומקוממת את הלב"</a:t>
            </a:r>
            <a:endParaRPr lang="he-IL" sz="1500" dirty="0"/>
          </a:p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גם בצבא: </a:t>
            </a:r>
            <a:pPr rtl="1" algn="r" indent="0" marL="0">
              <a:spcAft>
                <a:spcPts val="800"/>
              </a:spcAft>
              <a:buNone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חובה לא לציית!</a:t>
            </a:r>
            <a:endParaRPr lang="he-IL" sz="1500" dirty="0"/>
          </a:p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שציית יועמד לדין, וגם נותן הפקודה</a:t>
            </a:r>
            <a:endParaRPr lang="he-IL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5486400"/>
            <a:ext cx="11277295" cy="731520"/>
          </a:xfrm>
          <a:prstGeom prst="roundRect">
            <a:avLst>
              <a:gd name="adj" fmla="val 12500"/>
            </a:avLst>
          </a:prstGeom>
          <a:solidFill>
            <a:srgbClr val="FFF7D6"/>
          </a:solidFill>
          <a:ln w="12700">
            <a:solidFill>
              <a:srgbClr val="E8C54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5705856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94360" y="5486400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לזכירה: "בעליל" = גלוי לכל. אם כל אדם מוסרי מבין מיד שזה פסול ← בעליל ← אסור לציית. אם רק משפטן יבין ← בלתי חוקית ← בצבא מצייתים ומתלוננים.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 מהבגרות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הגבלת השלטון  ›  פיקוח בלתי פורמלי</a:t>
            </a:r>
            <a:endParaRPr lang="he-IL" sz="1200" dirty="0"/>
          </a:p>
        </p:txBody>
      </p:sp>
      <p:sp>
        <p:nvSpPr>
          <p:cNvPr id="6" name="Shape 3"/>
          <p:cNvSpPr/>
          <p:nvPr/>
        </p:nvSpPr>
        <p:spPr>
          <a:xfrm>
            <a:off x="7528255" y="1143000"/>
            <a:ext cx="4206240" cy="438912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1225296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619695" y="114300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בגרות קיץ תשפ"ד • שאלון 34281</a:t>
            </a:r>
            <a:endParaRPr lang="he-IL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1143000"/>
            <a:ext cx="68881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100" i="1" dirty="0">
                <a:solidFill>
                  <a:srgbClr val="5D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השאלה בתמצית • תשובה לפי פתרון גבע (לא רשמי)</a:t>
            </a:r>
            <a:endParaRPr lang="he-IL" sz="1100" dirty="0"/>
          </a:p>
        </p:txBody>
      </p:sp>
      <p:sp>
        <p:nvSpPr>
          <p:cNvPr id="10" name="Shape 6"/>
          <p:cNvSpPr/>
          <p:nvPr/>
        </p:nvSpPr>
        <p:spPr>
          <a:xfrm>
            <a:off x="6613855" y="1783080"/>
            <a:ext cx="5120640" cy="4526280"/>
          </a:xfrm>
          <a:prstGeom prst="roundRect">
            <a:avLst>
              <a:gd name="adj" fmla="val 2424"/>
            </a:avLst>
          </a:prstGeom>
          <a:solidFill>
            <a:srgbClr val="F1E8F6"/>
          </a:solidFill>
          <a:ln w="12700">
            <a:solidFill>
              <a:srgbClr val="F1E8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751015" y="18928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השאלה</a:t>
            </a:r>
            <a:endParaRPr lang="he-IL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751015" y="2322576"/>
            <a:ext cx="4846320" cy="3913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קטע: אנשי תרבות ותושבים שלחו מכתבים לגורמים שונים בממשלה, וטענו שהתוכנית שהממשלה מקדמת תפגע קשה בילדים.</a:t>
            </a:r>
            <a:endParaRPr lang="he-IL" sz="1700" dirty="0"/>
          </a:p>
          <a:p>
            <a:pPr rtl="1" algn="r" indent="0" marL="0">
              <a:spcAft>
                <a:spcPts val="400"/>
              </a:spcAft>
              <a:buNone/>
            </a:pPr>
            <a:endParaRPr lang="he-IL" sz="1700" dirty="0"/>
          </a:p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ציינו והציגו את סוג מנגנון הפיקוח שבא לידי ביטוי בקטע. הסבירו.</a:t>
            </a:r>
            <a:endParaRPr lang="he-IL" sz="1700" dirty="0"/>
          </a:p>
        </p:txBody>
      </p:sp>
      <p:sp>
        <p:nvSpPr>
          <p:cNvPr id="13" name="Shape 9"/>
          <p:cNvSpPr/>
          <p:nvPr/>
        </p:nvSpPr>
        <p:spPr>
          <a:xfrm>
            <a:off x="457200" y="1783080"/>
            <a:ext cx="5882335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94360" y="1892808"/>
            <a:ext cx="5608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תשובה לדוגמה</a:t>
            </a:r>
            <a:endParaRPr lang="he-IL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594360" y="2322576"/>
            <a:ext cx="5608015" cy="3913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1400"/>
              </a:spcAft>
              <a:buSzPct val="100000"/>
              <a:buChar char="•"/>
            </a:pPr>
            <a:r>
              <a:rPr lang="he-IL" altLang="en-US" sz="17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ציין: </a:t>
            </a:r>
            <a:pPr rtl="1" algn="r" indent="0" marL="0">
              <a:spcAft>
                <a:spcPts val="1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מנגנון פיקוח בלתי פורמלי (חוץ-מוסדי)</a:t>
            </a:r>
            <a:endParaRPr lang="he-IL" sz="1700" dirty="0"/>
          </a:p>
          <a:p>
            <a:pPr rtl="1" algn="r" marL="177800" indent="-177800">
              <a:spcAft>
                <a:spcPts val="1400"/>
              </a:spcAft>
              <a:buSzPct val="100000"/>
              <a:buChar char="•"/>
            </a:pPr>
            <a:r>
              <a:rPr lang="he-IL" altLang="en-US" sz="17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הצג: </a:t>
            </a:r>
            <a:pPr rtl="1" algn="r" indent="0" marL="0">
              <a:spcAft>
                <a:spcPts val="1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אזרחים, ארגונים ותקשורת שמבקרים את השלטון ביוזמתם, ללא הסמכה בחוק, ומפעילים לחץ ציבורי על מקבלי ההחלטות</a:t>
            </a:r>
            <a:endParaRPr lang="he-IL" sz="1700" dirty="0"/>
          </a:p>
          <a:p>
            <a:pPr rtl="1" algn="r" marL="177800" indent="-177800">
              <a:spcAft>
                <a:spcPts val="1400"/>
              </a:spcAft>
              <a:buSzPct val="100000"/>
              <a:buChar char="•"/>
            </a:pPr>
            <a:r>
              <a:rPr lang="he-IL" altLang="en-US" sz="17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הסבר: </a:t>
            </a:r>
            <a:pPr rtl="1" algn="r" indent="0" marL="0">
              <a:spcAft>
                <a:spcPts val="1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אנשי התרבות והתושבים אינם גוף שהוסמך בחוק. הם פעלו ביוזמתם ולחצו על משרדי הממשלה לשנות את התוכנית</a:t>
            </a:r>
            <a:endParaRPr lang="he-IL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 מהבגרות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הגבלת השלטון  ›  סוגי עבריינות</a:t>
            </a:r>
            <a:endParaRPr lang="he-IL" sz="1200" dirty="0"/>
          </a:p>
        </p:txBody>
      </p:sp>
      <p:sp>
        <p:nvSpPr>
          <p:cNvPr id="6" name="Shape 3"/>
          <p:cNvSpPr/>
          <p:nvPr/>
        </p:nvSpPr>
        <p:spPr>
          <a:xfrm>
            <a:off x="7528255" y="1143000"/>
            <a:ext cx="4206240" cy="438912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1225296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619695" y="114300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בגרות קיץ תשפ"ג • שאלון 34281</a:t>
            </a:r>
            <a:endParaRPr lang="he-IL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1143000"/>
            <a:ext cx="68881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100" i="1" dirty="0">
                <a:solidFill>
                  <a:srgbClr val="5D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השאלה בתמצית • תשובה לפי פתרון גבע (לא רשמי)</a:t>
            </a:r>
            <a:endParaRPr lang="he-IL" sz="1100" dirty="0"/>
          </a:p>
        </p:txBody>
      </p:sp>
      <p:sp>
        <p:nvSpPr>
          <p:cNvPr id="10" name="Shape 6"/>
          <p:cNvSpPr/>
          <p:nvPr/>
        </p:nvSpPr>
        <p:spPr>
          <a:xfrm>
            <a:off x="6613855" y="1783080"/>
            <a:ext cx="5120640" cy="4526280"/>
          </a:xfrm>
          <a:prstGeom prst="roundRect">
            <a:avLst>
              <a:gd name="adj" fmla="val 2424"/>
            </a:avLst>
          </a:prstGeom>
          <a:solidFill>
            <a:srgbClr val="F1E8F6"/>
          </a:solidFill>
          <a:ln w="12700">
            <a:solidFill>
              <a:srgbClr val="F1E8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751015" y="18928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השאלה</a:t>
            </a:r>
            <a:endParaRPr lang="he-IL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751015" y="2322576"/>
            <a:ext cx="4846320" cy="3913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קטע: פקחי רשות העתיקות מצאו בביתו של תושב כ-1,800 תכשיטים וחפצים עתיקים שנלקחו ללא רשות מאתרים ארכאולוגיים. הוא התכוון למכור אותם למרבה במחיר.</a:t>
            </a:r>
            <a:endParaRPr lang="he-IL" sz="1700" dirty="0"/>
          </a:p>
          <a:p>
            <a:pPr rtl="1" algn="r" indent="0" marL="0">
              <a:spcAft>
                <a:spcPts val="400"/>
              </a:spcAft>
              <a:buNone/>
            </a:pPr>
            <a:endParaRPr lang="he-IL" sz="1700" dirty="0"/>
          </a:p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ציינו והציגו את סוג העבריינות שבא לידי ביטוי בקטע. הסבירו.</a:t>
            </a:r>
            <a:endParaRPr lang="he-IL" sz="1700" dirty="0"/>
          </a:p>
        </p:txBody>
      </p:sp>
      <p:sp>
        <p:nvSpPr>
          <p:cNvPr id="13" name="Shape 9"/>
          <p:cNvSpPr/>
          <p:nvPr/>
        </p:nvSpPr>
        <p:spPr>
          <a:xfrm>
            <a:off x="457200" y="1783080"/>
            <a:ext cx="5882335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94360" y="1892808"/>
            <a:ext cx="5608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תשובה לדוגמה</a:t>
            </a:r>
            <a:endParaRPr lang="he-IL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594360" y="2322576"/>
            <a:ext cx="5608015" cy="3913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1400"/>
              </a:spcAft>
              <a:buSzPct val="100000"/>
              <a:buChar char="•"/>
            </a:pPr>
            <a:r>
              <a:rPr lang="he-IL" altLang="en-US" sz="17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ציין: </a:t>
            </a:r>
            <a:pPr rtl="1" algn="r" indent="0" marL="0">
              <a:spcAft>
                <a:spcPts val="1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עבריינות פלילית רגילה</a:t>
            </a:r>
            <a:endParaRPr lang="he-IL" sz="1700" dirty="0"/>
          </a:p>
          <a:p>
            <a:pPr rtl="1" algn="r" marL="177800" indent="-177800">
              <a:spcAft>
                <a:spcPts val="1400"/>
              </a:spcAft>
              <a:buSzPct val="100000"/>
              <a:buChar char="•"/>
            </a:pPr>
            <a:r>
              <a:rPr lang="he-IL" altLang="en-US" sz="17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הצג: </a:t>
            </a:r>
            <a:pPr rtl="1" algn="r" indent="0" marL="0">
              <a:spcAft>
                <a:spcPts val="1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הפרת חוק אקטיבית מתוך אינטרס אישי, בלי נכונות לשאת בעונש. החברה רואה בה סכנה לסדר הציבורי</a:t>
            </a:r>
            <a:endParaRPr lang="he-IL" sz="1700" dirty="0"/>
          </a:p>
          <a:p>
            <a:pPr rtl="1" algn="r" marL="177800" indent="-177800">
              <a:spcAft>
                <a:spcPts val="1400"/>
              </a:spcAft>
              <a:buSzPct val="100000"/>
              <a:buChar char="•"/>
            </a:pPr>
            <a:r>
              <a:rPr lang="he-IL" altLang="en-US" sz="17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הסבר: </a:t>
            </a:r>
            <a:pPr rtl="1" algn="r" indent="0" marL="0">
              <a:spcAft>
                <a:spcPts val="1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המבצע הוא אזרח רגיל (לא נושא משרה), והמניע כלכלי ואישי: לקח עתיקות בלי רשות כדי למכור אותן</a:t>
            </a:r>
            <a:endParaRPr lang="he-IL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B0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914400"/>
            <a:ext cx="1463040" cy="1463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1455" y="128016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960120"/>
            <a:ext cx="90827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קבוצה 5</a:t>
            </a:r>
            <a:endParaRPr lang="he-IL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371600"/>
            <a:ext cx="908273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זכויות אדם ואזרח</a:t>
            </a:r>
            <a:endParaRPr lang="he-IL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880360"/>
            <a:ext cx="1127729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בפרק הזה:</a:t>
            </a:r>
            <a:endParaRPr lang="he-IL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91840"/>
            <a:ext cx="11277295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 הזכויות: 4 סוגים</a:t>
            </a:r>
            <a:endParaRPr lang="he-IL" sz="18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רעיון הזכויות הטבעיות וזכויות מתנגשות</a:t>
            </a:r>
            <a:endParaRPr lang="he-IL" sz="18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חירות ושוויון כערכי יסוד</a:t>
            </a:r>
            <a:endParaRPr lang="he-IL" sz="18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זכויות האדם אחת-אחת</a:t>
            </a:r>
            <a:endParaRPr lang="he-IL" sz="18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הזכות לשוויון: אפליה, הבחנה, העדפה מתקנת</a:t>
            </a:r>
            <a:endParaRPr lang="he-IL" sz="18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זכויות פוליטיות, חברתיות-כלכליות וקבוצתיות</a:t>
            </a:r>
            <a:endParaRPr lang="he-IL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 הזכויות: 4 סוגים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זכויות  ›  סיווג</a:t>
            </a:r>
            <a:endParaRPr lang="he-IL" sz="1200" dirty="0"/>
          </a:p>
        </p:txBody>
      </p:sp>
      <p:sp>
        <p:nvSpPr>
          <p:cNvPr id="6" name="Shape 3"/>
          <p:cNvSpPr/>
          <p:nvPr/>
        </p:nvSpPr>
        <p:spPr>
          <a:xfrm>
            <a:off x="6233008" y="1188720"/>
            <a:ext cx="5501488" cy="2148840"/>
          </a:xfrm>
          <a:prstGeom prst="roundRect">
            <a:avLst>
              <a:gd name="adj" fmla="val 5106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865815" y="129844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🕊</a:t>
            </a:r>
            <a:endParaRPr lang="he-IL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370168" y="1325880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9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זכויות טבעיות (זכויות אדם)</a:t>
            </a:r>
            <a:endParaRPr lang="he-IL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6370168" y="1965960"/>
            <a:ext cx="522716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מה: </a:t>
            </a:r>
            <a:pPr rtl="1" algn="r" indent="0" marL="0">
              <a:spcAft>
                <a:spcPts val="6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לכל אדם מעצם היותו אדם. המדינה לא נותנת אותן, היא רק מגינה עליהן</a:t>
            </a:r>
            <a:endParaRPr lang="he-IL" sz="14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דוגמאות: </a:t>
            </a:r>
            <a:pPr rtl="1" algn="r" indent="0" marL="0">
              <a:spcAft>
                <a:spcPts val="6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חיים, כבוד, חירות, שוויון, קניין, הליך הוגן, חופש ביטוי, דת…</a:t>
            </a:r>
            <a:endParaRPr lang="he-IL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1188720"/>
            <a:ext cx="5501488" cy="2148840"/>
          </a:xfrm>
          <a:prstGeom prst="roundRect">
            <a:avLst>
              <a:gd name="adj" fmla="val 5106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90008" y="129844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🗳</a:t>
            </a:r>
            <a:endParaRPr lang="he-IL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1325880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9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זכויות פוליטיות</a:t>
            </a:r>
            <a:endParaRPr lang="he-IL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1965960"/>
            <a:ext cx="522716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מה: </a:t>
            </a:r>
            <a:pPr rtl="1" algn="r" indent="0" marL="0">
              <a:spcAft>
                <a:spcPts val="6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קשורות לניהול המדינה. הביטוי המעשי לשלטון העם</a:t>
            </a:r>
            <a:endParaRPr lang="he-IL" sz="14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דוגמאות: </a:t>
            </a:r>
            <a:pPr rtl="1" algn="r" indent="0" marL="0">
              <a:spcAft>
                <a:spcPts val="6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לבחור ולהיבחר, להקים מפלגה (לאזרחים בלבד); הפגנה ומחאה (לכולם)</a:t>
            </a:r>
            <a:endParaRPr lang="he-IL" sz="1400" dirty="0"/>
          </a:p>
        </p:txBody>
      </p:sp>
      <p:sp>
        <p:nvSpPr>
          <p:cNvPr id="14" name="Shape 11"/>
          <p:cNvSpPr/>
          <p:nvPr/>
        </p:nvSpPr>
        <p:spPr>
          <a:xfrm>
            <a:off x="6233008" y="3520440"/>
            <a:ext cx="5501488" cy="2148840"/>
          </a:xfrm>
          <a:prstGeom prst="roundRect">
            <a:avLst>
              <a:gd name="adj" fmla="val 5106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865815" y="363016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</a:t>
            </a:r>
            <a:endParaRPr lang="he-IL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6370168" y="3657600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9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זכויות חברתיות-כלכליות</a:t>
            </a:r>
            <a:endParaRPr lang="he-IL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6370168" y="4297680"/>
            <a:ext cx="522716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מה: </a:t>
            </a:r>
            <a:pPr rtl="1" algn="r" indent="0" marL="0">
              <a:spcAft>
                <a:spcPts val="6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המדינה מעניקה אותן כדי להבטיח קיום בכבוד. היקפן תלוי במדיניות</a:t>
            </a:r>
            <a:endParaRPr lang="he-IL" sz="14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דוגמאות: </a:t>
            </a:r>
            <a:pPr rtl="1" algn="r" indent="0" marL="0">
              <a:spcAft>
                <a:spcPts val="6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בריאות, חינוך, דיור, ביטחון סוציאלי, זכויות עובדים</a:t>
            </a:r>
            <a:endParaRPr lang="he-IL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3520440"/>
            <a:ext cx="5501488" cy="2148840"/>
          </a:xfrm>
          <a:prstGeom prst="roundRect">
            <a:avLst>
              <a:gd name="adj" fmla="val 5106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90008" y="363016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he-IL" alt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he-IL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594360" y="3657600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9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זכויות קבוצתיות (תרבותיות)</a:t>
            </a:r>
            <a:endParaRPr lang="he-IL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4297680"/>
            <a:ext cx="522716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מה: </a:t>
            </a:r>
            <a:pPr rtl="1" algn="r" indent="0" marL="0">
              <a:spcAft>
                <a:spcPts val="6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לקבוצה בעלת תרבות ייחודית, כדי לשמור על ייחודה</a:t>
            </a:r>
            <a:endParaRPr lang="he-IL" sz="14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דוגמאות: </a:t>
            </a:r>
            <a:pPr rtl="1" algn="r" indent="0" marL="0">
              <a:spcAft>
                <a:spcPts val="6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שפה, חינוך, דת, ייצוג</a:t>
            </a:r>
            <a:endParaRPr lang="he-IL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5852160"/>
            <a:ext cx="11277295" cy="502920"/>
          </a:xfrm>
          <a:prstGeom prst="roundRect">
            <a:avLst>
              <a:gd name="adj" fmla="val 18182"/>
            </a:avLst>
          </a:prstGeom>
          <a:solidFill>
            <a:srgbClr val="FFF7D6"/>
          </a:solidFill>
          <a:ln w="12700">
            <a:solidFill>
              <a:srgbClr val="E8C547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5957316"/>
            <a:ext cx="292608" cy="292608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94360" y="5852160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השאלה המכריעה: מי נותן את הזכות ולמי? טבע ← לכל אדם. המדינה ← משאבים (חברתיות) או לקבוצה (קבוצתיות). אזרחות ← פוליטיות.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רעיון הזכויות הטבעיות וזכויות מתנגשות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זכויות  ›  זכויות טבעיות</a:t>
            </a:r>
            <a:endParaRPr lang="he-IL" sz="1200" dirty="0"/>
          </a:p>
        </p:txBody>
      </p:sp>
      <p:sp>
        <p:nvSpPr>
          <p:cNvPr id="6" name="Shape 3"/>
          <p:cNvSpPr/>
          <p:nvPr/>
        </p:nvSpPr>
        <p:spPr>
          <a:xfrm>
            <a:off x="6233008" y="1188720"/>
            <a:ext cx="5501488" cy="4343400"/>
          </a:xfrm>
          <a:prstGeom prst="roundRect">
            <a:avLst>
              <a:gd name="adj" fmla="val 2526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70168" y="1298448"/>
            <a:ext cx="522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רעיון הזכויות הטבעיות</a:t>
            </a:r>
            <a:endParaRPr lang="he-IL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370168" y="1728216"/>
            <a:ext cx="5227168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תפיסה ליברלית: יש זכויות יסוד (חיים, חירות, קניין, כבוד, שוויון, הליך הוגן) ששייכות לכל אדם מרגע לידתו</a:t>
            </a:r>
            <a:endParaRPr lang="he-IL" sz="1500" dirty="0"/>
          </a:p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ההצדקה: </a:t>
            </a:r>
            <a:pPr rtl="1" algn="r" indent="0" marL="0">
              <a:spcAft>
                <a:spcPts val="800"/>
              </a:spcAft>
              <a:buNone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האדם הוא יצור תבוני ואוטונומי, בעל ערך וכבוד, "תכלית לעצמו" ולא אמצעי בידי השלטון</a:t>
            </a:r>
            <a:endParaRPr lang="he-IL" sz="1500" dirty="0"/>
          </a:p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המשמעות: </a:t>
            </a:r>
            <a:pPr rtl="1" algn="r" indent="0" marL="0">
              <a:spcAft>
                <a:spcPts val="800"/>
              </a:spcAft>
              <a:buNone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המדינה לא נותנת את הזכויות ולכן גם לא יכולה לשלול אותן באופן שרירותי. תפקידה להגן עליהן</a:t>
            </a:r>
            <a:endParaRPr lang="he-IL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5501488" cy="3063240"/>
          </a:xfrm>
          <a:prstGeom prst="roundRect">
            <a:avLst>
              <a:gd name="adj" fmla="val 3582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298448"/>
            <a:ext cx="522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  זכויות מתנגשות</a:t>
            </a:r>
            <a:endParaRPr lang="he-IL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1728216"/>
            <a:ext cx="5227168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הזכויות יחסיות ולא מוחלטות. הן מתנגשות זו בזו ואי אפשר להגשים את כולן באופן מלא</a:t>
            </a:r>
            <a:endParaRPr lang="he-IL" sz="1500" dirty="0"/>
          </a:p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בהתנגשות בין זכויות, או בין זכות לאינטרס ציבורי, צריך איזון סביר: פגיעה מידתית ומינימלית, בלי לבטל לגמרי אף זכות</a:t>
            </a:r>
            <a:endParaRPr lang="he-IL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4434840"/>
            <a:ext cx="5501488" cy="1097280"/>
          </a:xfrm>
          <a:prstGeom prst="roundRect">
            <a:avLst>
              <a:gd name="adj" fmla="val 8333"/>
            </a:avLst>
          </a:prstGeom>
          <a:solidFill>
            <a:srgbClr val="FDECEC"/>
          </a:solidFill>
          <a:ln w="12700">
            <a:solidFill>
              <a:srgbClr val="E39A9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776" y="48463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66928" y="4434840"/>
            <a:ext cx="48614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 מותר להגביל זכות? רק כשהמימוש שלה פוגע בזכויות של אחרים או באינטרס ציבורי חיוני (ביטחון, סדר ציבורי, בריאות).</a:t>
            </a:r>
            <a:endParaRPr lang="he-IL" sz="1400" dirty="0"/>
          </a:p>
        </p:txBody>
      </p:sp>
      <p:sp>
        <p:nvSpPr>
          <p:cNvPr id="15" name="Shape 11"/>
          <p:cNvSpPr/>
          <p:nvPr/>
        </p:nvSpPr>
        <p:spPr>
          <a:xfrm>
            <a:off x="457200" y="5669280"/>
            <a:ext cx="11277295" cy="566928"/>
          </a:xfrm>
          <a:prstGeom prst="roundRect">
            <a:avLst>
              <a:gd name="adj" fmla="val 16129"/>
            </a:avLst>
          </a:prstGeom>
          <a:solidFill>
            <a:srgbClr val="FFF7D6"/>
          </a:solidFill>
          <a:ln w="12700">
            <a:solidFill>
              <a:srgbClr val="E8C54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580644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94360" y="566928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בשאלת "זכויות מתנגשות": מציינים את שתי הזכויות, מציגים כל אחת, ומסבירים מי בקטע מממש כל זכות ואיך הן מתנגשות.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חירות ושוויון: שני ערכי היסוד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זכויות  ›  ערכי יסוד</a:t>
            </a:r>
            <a:endParaRPr lang="he-IL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ערכי היסוד נובעים מההכרה בערך האדם וכבודו: כל בני האדם נולדו חופשיים ושווים בזכויותיהם.</a:t>
            </a:r>
            <a:endParaRPr lang="he-IL" sz="1600" dirty="0"/>
          </a:p>
        </p:txBody>
      </p:sp>
      <p:sp>
        <p:nvSpPr>
          <p:cNvPr id="7" name="Shape 4"/>
          <p:cNvSpPr/>
          <p:nvPr/>
        </p:nvSpPr>
        <p:spPr>
          <a:xfrm>
            <a:off x="6233008" y="1645920"/>
            <a:ext cx="5501488" cy="3566160"/>
          </a:xfrm>
          <a:prstGeom prst="roundRect">
            <a:avLst>
              <a:gd name="adj" fmla="val 3077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70168" y="1755648"/>
            <a:ext cx="522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🗽  חירות</a:t>
            </a:r>
            <a:endParaRPr lang="he-IL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370168" y="2185416"/>
            <a:ext cx="5227168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הזכות של כל אדם לנהל את חייו ולבחור את דרכו, בלי כפייה או התערבות של המדינה</a:t>
            </a:r>
            <a:endParaRPr lang="he-IL" sz="16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עוד הוא לא פוגע בזכויות של אחרים או באינטרס ציבורי חיוני</a:t>
            </a:r>
            <a:endParaRPr lang="he-IL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1645920"/>
            <a:ext cx="5501488" cy="3566160"/>
          </a:xfrm>
          <a:prstGeom prst="roundRect">
            <a:avLst>
              <a:gd name="adj" fmla="val 3077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1755648"/>
            <a:ext cx="522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  שוויון</a:t>
            </a:r>
            <a:endParaRPr lang="he-IL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2185416"/>
            <a:ext cx="5227168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בפני החוק: </a:t>
            </a:r>
            <a:pPr rtl="1" algn="r" indent="0" marL="0">
              <a:spcAft>
                <a:spcPts val="1000"/>
              </a:spcAft>
              <a:buNone/>
            </a:pPr>
            <a:r>
              <a:rPr lang="he-IL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יחס שווה לכל אדם בחקיקה, באכיפה ובמשפט</a:t>
            </a:r>
            <a:endParaRPr lang="he-IL" sz="16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פוליטי: </a:t>
            </a:r>
            <a:pPr rtl="1" algn="r" indent="0" marL="0">
              <a:spcAft>
                <a:spcPts val="1000"/>
              </a:spcAft>
              <a:buNone/>
            </a:pPr>
            <a:r>
              <a:rPr lang="he-IL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הזכות השווה לבחור ולהיבחר</a:t>
            </a:r>
            <a:endParaRPr lang="he-IL" sz="16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חברתי-כלכלי: </a:t>
            </a:r>
            <a:pPr rtl="1" algn="r" indent="0" marL="0">
              <a:spcAft>
                <a:spcPts val="1000"/>
              </a:spcAft>
              <a:buNone/>
            </a:pPr>
            <a:r>
              <a:rPr lang="he-IL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צמצום פערים ושוויון הזדמנויות, נקודת פתיחה שווה לכל אדם</a:t>
            </a:r>
            <a:endParaRPr lang="he-IL" sz="1600" dirty="0"/>
          </a:p>
        </p:txBody>
      </p:sp>
      <p:sp>
        <p:nvSpPr>
          <p:cNvPr id="13" name="Shape 10"/>
          <p:cNvSpPr/>
          <p:nvPr/>
        </p:nvSpPr>
        <p:spPr>
          <a:xfrm>
            <a:off x="457200" y="5394960"/>
            <a:ext cx="11277295" cy="868680"/>
          </a:xfrm>
          <a:prstGeom prst="roundRect">
            <a:avLst>
              <a:gd name="adj" fmla="val 10526"/>
            </a:avLst>
          </a:prstGeom>
          <a:solidFill>
            <a:srgbClr val="FDECEC"/>
          </a:solidFill>
          <a:ln w="12700">
            <a:solidFill>
              <a:srgbClr val="E39A9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583" y="569214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66928" y="5394960"/>
            <a:ext cx="106372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מתח קבוע: ככל שמגדילים את החירות הכלכלית, קשה יותר להשיג שוויון כלכלי-חברתי, ולהפך. זה הבסיס לוויכוח בין הגישות הכלכליות (קבוצה 6).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זכויות האדם: כבוד, חיים, הליך הוגן, קניין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זכויות  ›  זכויות טבעיות</a:t>
            </a:r>
            <a:endParaRPr lang="he-IL" sz="1200" dirty="0"/>
          </a:p>
        </p:txBody>
      </p:sp>
      <p:sp>
        <p:nvSpPr>
          <p:cNvPr id="6" name="Shape 3"/>
          <p:cNvSpPr/>
          <p:nvPr/>
        </p:nvSpPr>
        <p:spPr>
          <a:xfrm>
            <a:off x="6233008" y="1188720"/>
            <a:ext cx="5501488" cy="1554480"/>
          </a:xfrm>
          <a:prstGeom prst="roundRect">
            <a:avLst>
              <a:gd name="adj" fmla="val 7059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70168" y="1298448"/>
            <a:ext cx="522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הזכות לכבוד  (זכות-גג)</a:t>
            </a:r>
            <a:endParaRPr lang="he-IL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370168" y="1682496"/>
            <a:ext cx="522716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הזכות לא להיות מושפל, מבוזה, נלעג או נתון ליחס פוגעני ואכזרי, מצד אחרים או מצד השלטון. ממנה נגזרות הזכות לפרטיות והזכות לשם טוב.</a:t>
            </a:r>
            <a:endParaRPr lang="he-IL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5501488" cy="1554480"/>
          </a:xfrm>
          <a:prstGeom prst="roundRect">
            <a:avLst>
              <a:gd name="adj" fmla="val 7059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298448"/>
            <a:ext cx="522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הזכות לפרטיות  (נגזרת מכבוד)</a:t>
            </a:r>
            <a:endParaRPr lang="he-IL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1682496"/>
            <a:ext cx="522716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הזכות לחיות בלי חדירה, חשיפה או התערבות של אחרים או של הרשויות.</a:t>
            </a:r>
            <a:endParaRPr lang="he-IL" sz="1400" dirty="0"/>
          </a:p>
        </p:txBody>
      </p:sp>
      <p:sp>
        <p:nvSpPr>
          <p:cNvPr id="12" name="Shape 9"/>
          <p:cNvSpPr/>
          <p:nvPr/>
        </p:nvSpPr>
        <p:spPr>
          <a:xfrm>
            <a:off x="6233008" y="2880360"/>
            <a:ext cx="5501488" cy="1554480"/>
          </a:xfrm>
          <a:prstGeom prst="roundRect">
            <a:avLst>
              <a:gd name="adj" fmla="val 7059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70168" y="2990088"/>
            <a:ext cx="522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הזכות לשם טוב  (נגזרת מכבוד)</a:t>
            </a:r>
            <a:endParaRPr lang="he-IL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370168" y="3374136"/>
            <a:ext cx="522716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הזכות שלא יפיצו עליך מידע שקרי ושלילי.</a:t>
            </a:r>
            <a:endParaRPr lang="he-IL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2880360"/>
            <a:ext cx="5501488" cy="1554480"/>
          </a:xfrm>
          <a:prstGeom prst="roundRect">
            <a:avLst>
              <a:gd name="adj" fmla="val 7059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" y="2990088"/>
            <a:ext cx="522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הזכות לחיים ולביטחון</a:t>
            </a:r>
            <a:endParaRPr lang="he-IL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" y="3374136"/>
            <a:ext cx="522716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אסור לפגוע בחייו ובגופו של אדם. המדינה חייבת להגן על כל מי שבשטחה מפני פגיעה.</a:t>
            </a:r>
            <a:endParaRPr lang="he-IL" sz="1400" dirty="0"/>
          </a:p>
        </p:txBody>
      </p:sp>
      <p:sp>
        <p:nvSpPr>
          <p:cNvPr id="18" name="Shape 15"/>
          <p:cNvSpPr/>
          <p:nvPr/>
        </p:nvSpPr>
        <p:spPr>
          <a:xfrm>
            <a:off x="6233008" y="4572000"/>
            <a:ext cx="5501488" cy="1554480"/>
          </a:xfrm>
          <a:prstGeom prst="roundRect">
            <a:avLst>
              <a:gd name="adj" fmla="val 7059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70168" y="4681728"/>
            <a:ext cx="522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הזכות להליך הוגן</a:t>
            </a:r>
            <a:endParaRPr lang="he-IL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370168" y="5065776"/>
            <a:ext cx="522716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חזקת חפות. עורך דין, הבאה בפני שופט, משפט פומבי ע"י שופטים בלתי תלויים, זכות ערעור, עיון בראיות. זכויות החשוד ייפגעו רק במינימום ההכרחי.</a:t>
            </a:r>
            <a:endParaRPr lang="he-IL" sz="1400" dirty="0"/>
          </a:p>
        </p:txBody>
      </p:sp>
      <p:sp>
        <p:nvSpPr>
          <p:cNvPr id="21" name="Shape 18"/>
          <p:cNvSpPr/>
          <p:nvPr/>
        </p:nvSpPr>
        <p:spPr>
          <a:xfrm>
            <a:off x="457200" y="4572000"/>
            <a:ext cx="5501488" cy="1554480"/>
          </a:xfrm>
          <a:prstGeom prst="roundRect">
            <a:avLst>
              <a:gd name="adj" fmla="val 7059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94360" y="4681728"/>
            <a:ext cx="522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הזכות לקניין</a:t>
            </a:r>
            <a:endParaRPr lang="he-IL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94360" y="5065776"/>
            <a:ext cx="522716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הזכות להחזיק ברכוש בעל ערך כלכלי ולעשות בו כרצונך. אסור לפגוע בקניין חומרי (בית, כסף) או רוחני (יצירה, המצאה).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הזכות לחירות והחירויות שנגזרות ממנה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זכויות  ›  זכויות טבעיות</a:t>
            </a:r>
            <a:endParaRPr lang="he-IL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0584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הזכות לחירות: לכל אדם הזכות לכוון את חייו, לבחור את דרכו ולפעול לפי רצונו. ממנה נגזרות חירויות ספציפיות:</a:t>
            </a:r>
            <a:endParaRPr lang="he-IL" sz="1600" dirty="0"/>
          </a:p>
        </p:txBody>
      </p:sp>
      <p:sp>
        <p:nvSpPr>
          <p:cNvPr id="7" name="Shape 4"/>
          <p:cNvSpPr/>
          <p:nvPr/>
        </p:nvSpPr>
        <p:spPr>
          <a:xfrm>
            <a:off x="8158277" y="1645920"/>
            <a:ext cx="3576218" cy="1874520"/>
          </a:xfrm>
          <a:prstGeom prst="roundRect">
            <a:avLst>
              <a:gd name="adj" fmla="val 5854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95437" y="1755648"/>
            <a:ext cx="33018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חופש הביטוי</a:t>
            </a:r>
            <a:endParaRPr lang="he-IL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95437" y="2139696"/>
            <a:ext cx="3301898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להביע דעות ורגשות בפומבי בכל דרך: דיבור, כתיבה, אמנות, הפגנה, לבוש. חיוני לבירור האמת ולביקורת על השלטון. מוגבל במקרי קיצון: הסתה, ביטחון, לשון הרע.</a:t>
            </a:r>
            <a:endParaRPr lang="he-IL" sz="1300" dirty="0"/>
          </a:p>
        </p:txBody>
      </p:sp>
      <p:sp>
        <p:nvSpPr>
          <p:cNvPr id="10" name="Shape 7"/>
          <p:cNvSpPr/>
          <p:nvPr/>
        </p:nvSpPr>
        <p:spPr>
          <a:xfrm>
            <a:off x="4307738" y="1645920"/>
            <a:ext cx="3576218" cy="1874520"/>
          </a:xfrm>
          <a:prstGeom prst="roundRect">
            <a:avLst>
              <a:gd name="adj" fmla="val 5854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44898" y="1755648"/>
            <a:ext cx="33018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חופש המחשבה והמצפון</a:t>
            </a:r>
            <a:endParaRPr lang="he-IL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444898" y="2139696"/>
            <a:ext cx="3301898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להחזיק בכל דעה ואמונה, ולפעול (או לסרב) לפי צו המצפון. המחשבה מוחלטת; מימוש המצפון בפועל אינו מוחלט.</a:t>
            </a:r>
            <a:endParaRPr lang="he-IL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1645920"/>
            <a:ext cx="3576218" cy="1874520"/>
          </a:xfrm>
          <a:prstGeom prst="roundRect">
            <a:avLst>
              <a:gd name="adj" fmla="val 5854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1755648"/>
            <a:ext cx="33018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🚶 חופש התנועה</a:t>
            </a:r>
            <a:endParaRPr lang="he-IL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2139696"/>
            <a:ext cx="3301898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לנוע ולהימצא בכל מקום. הכניסה החופשית למדינה רק לאזרחים.</a:t>
            </a:r>
            <a:endParaRPr lang="he-IL" sz="1300" dirty="0"/>
          </a:p>
        </p:txBody>
      </p:sp>
      <p:sp>
        <p:nvSpPr>
          <p:cNvPr id="16" name="Shape 13"/>
          <p:cNvSpPr/>
          <p:nvPr/>
        </p:nvSpPr>
        <p:spPr>
          <a:xfrm>
            <a:off x="8158277" y="3657600"/>
            <a:ext cx="3576218" cy="1874520"/>
          </a:xfrm>
          <a:prstGeom prst="roundRect">
            <a:avLst>
              <a:gd name="adj" fmla="val 5854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95437" y="3767328"/>
            <a:ext cx="33018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חופש העיסוק</a:t>
            </a:r>
            <a:endParaRPr lang="he-IL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295437" y="4151376"/>
            <a:ext cx="3301898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לעסוק בכל מקצוע (בישראל לאזרחים ולתושבים). המדינה יכולה לדרוש הכשרה ורישיון.</a:t>
            </a:r>
            <a:endParaRPr lang="he-IL" sz="1300" dirty="0"/>
          </a:p>
        </p:txBody>
      </p:sp>
      <p:sp>
        <p:nvSpPr>
          <p:cNvPr id="19" name="Shape 16"/>
          <p:cNvSpPr/>
          <p:nvPr/>
        </p:nvSpPr>
        <p:spPr>
          <a:xfrm>
            <a:off x="4307738" y="3657600"/>
            <a:ext cx="3576218" cy="1874520"/>
          </a:xfrm>
          <a:prstGeom prst="roundRect">
            <a:avLst>
              <a:gd name="adj" fmla="val 5854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444898" y="3767328"/>
            <a:ext cx="33018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🕍 חופש דת</a:t>
            </a:r>
            <a:endParaRPr lang="he-IL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444898" y="4151376"/>
            <a:ext cx="3301898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להאמין, להשתייך לקבוצה דתית ולקיים בפומבי מנהגים, טקסים ומצוות.</a:t>
            </a:r>
            <a:endParaRPr lang="he-IL" sz="1300" dirty="0"/>
          </a:p>
        </p:txBody>
      </p:sp>
      <p:sp>
        <p:nvSpPr>
          <p:cNvPr id="22" name="Shape 19"/>
          <p:cNvSpPr/>
          <p:nvPr/>
        </p:nvSpPr>
        <p:spPr>
          <a:xfrm>
            <a:off x="457200" y="3657600"/>
            <a:ext cx="3576218" cy="1874520"/>
          </a:xfrm>
          <a:prstGeom prst="roundRect">
            <a:avLst>
              <a:gd name="adj" fmla="val 5854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4360" y="3767328"/>
            <a:ext cx="33018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חופש מדת</a:t>
            </a:r>
            <a:endParaRPr lang="he-IL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594360" y="4151376"/>
            <a:ext cx="3301898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להאמין, לא להשתייך ולא לקיים טקסים, ולא לסבול מכפייה דתית.</a:t>
            </a:r>
            <a:endParaRPr lang="he-IL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5669280"/>
            <a:ext cx="11277295" cy="594360"/>
          </a:xfrm>
          <a:prstGeom prst="roundRect">
            <a:avLst>
              <a:gd name="adj" fmla="val 15385"/>
            </a:avLst>
          </a:prstGeom>
          <a:solidFill>
            <a:srgbClr val="FDECEC"/>
          </a:solidFill>
          <a:ln w="12700">
            <a:solidFill>
              <a:srgbClr val="E39A9A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583" y="5829300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566928" y="5669280"/>
            <a:ext cx="106372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הסתייגות: החירות אינה מוחלטת. אסור לפגוע בחירות של אחרים או באינטרס ציבורי, ומידת ההגבלה שנויה במחלוקת.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הזכות לשוויון: 3 סוגי מדיניות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זכויות  ›  שוויון</a:t>
            </a:r>
            <a:endParaRPr lang="he-IL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058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אדם זכאי ליחס שוויוני מהשלטון, ללא הבדל דת, גזע, לאום, מין, נטייה מינית, השקפה, מוצא או מעמד. אבל לא כל יחס שונה הוא פגיעה בשוויון:</a:t>
            </a:r>
            <a:endParaRPr lang="he-IL" sz="1500" dirty="0"/>
          </a:p>
        </p:txBody>
      </p:sp>
      <p:sp>
        <p:nvSpPr>
          <p:cNvPr id="7" name="Shape 4"/>
          <p:cNvSpPr/>
          <p:nvPr/>
        </p:nvSpPr>
        <p:spPr>
          <a:xfrm>
            <a:off x="8158277" y="1737360"/>
            <a:ext cx="3576218" cy="3840480"/>
          </a:xfrm>
          <a:prstGeom prst="roundRect">
            <a:avLst>
              <a:gd name="adj" fmla="val 3068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95437" y="1847088"/>
            <a:ext cx="33018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אפליה פסולה</a:t>
            </a:r>
            <a:endParaRPr lang="he-IL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95437" y="2276856"/>
            <a:ext cx="3301898" cy="3227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יחס שונה לאדם או לקבוצה מסיבה לא מוצדקת</a:t>
            </a:r>
            <a:endParaRPr lang="he-IL" sz="1400" dirty="0"/>
          </a:p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 בסיס מאפיין לא רלוונטי לנושא (דת, גזע, מין, מוצא, צבע עור)</a:t>
            </a:r>
            <a:endParaRPr lang="he-IL" sz="1400" dirty="0"/>
          </a:p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פוגעת בשוויון וגם בכבוד. אסורה בחוק (עבודה, שירותים)</a:t>
            </a:r>
            <a:endParaRPr lang="he-IL" sz="1400" dirty="0"/>
          </a:p>
        </p:txBody>
      </p:sp>
      <p:sp>
        <p:nvSpPr>
          <p:cNvPr id="10" name="Shape 7"/>
          <p:cNvSpPr/>
          <p:nvPr/>
        </p:nvSpPr>
        <p:spPr>
          <a:xfrm>
            <a:off x="4307738" y="1737360"/>
            <a:ext cx="3576218" cy="3840480"/>
          </a:xfrm>
          <a:prstGeom prst="roundRect">
            <a:avLst>
              <a:gd name="adj" fmla="val 3068"/>
            </a:avLst>
          </a:prstGeom>
          <a:solidFill>
            <a:srgbClr val="E7EFFA"/>
          </a:solidFill>
          <a:ln w="12700">
            <a:solidFill>
              <a:srgbClr val="E7EF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44898" y="1847088"/>
            <a:ext cx="33018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5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  הבחנה מותרת</a:t>
            </a:r>
            <a:endParaRPr lang="he-IL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4444898" y="2276856"/>
            <a:ext cx="3301898" cy="3227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יחס שונה כשהשוני רלוונטי לנושא</a:t>
            </a:r>
            <a:endParaRPr lang="he-IL" sz="1400" dirty="0"/>
          </a:p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מתחשבת בצרכים מיוחדים, בכישורים או במוגבלויות</a:t>
            </a:r>
            <a:endParaRPr lang="he-IL" sz="1400" dirty="0"/>
          </a:p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מקדמת שוויון מהותי</a:t>
            </a:r>
            <a:endParaRPr lang="he-IL" sz="1400" dirty="0"/>
          </a:p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לדוגמה: </a:t>
            </a:r>
            <a:pPr rtl="1" algn="r" indent="0" marL="0">
              <a:spcAft>
                <a:spcPts val="8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איסור מכירת אלכוהול לבני נוער</a:t>
            </a:r>
            <a:endParaRPr lang="he-IL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1737360"/>
            <a:ext cx="3576218" cy="3840480"/>
          </a:xfrm>
          <a:prstGeom prst="roundRect">
            <a:avLst>
              <a:gd name="adj" fmla="val 3068"/>
            </a:avLst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1847088"/>
            <a:ext cx="33018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⬆  העדפה מתקנת</a:t>
            </a:r>
            <a:endParaRPr lang="he-IL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2276856"/>
            <a:ext cx="3301898" cy="3227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יחס מועדף או שריון מקומות לקבוצה שקופחה בעבר</a:t>
            </a:r>
            <a:endParaRPr lang="he-IL" sz="1400" dirty="0"/>
          </a:p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מטרה: לצמצם פערים ולתקן עוולות</a:t>
            </a:r>
            <a:endParaRPr lang="he-IL" sz="1400" dirty="0"/>
          </a:p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מוגבלת בזמן: נגמרת כשהפערים מצטמצמים</a:t>
            </a:r>
            <a:endParaRPr lang="he-IL" sz="1400" dirty="0"/>
          </a:p>
          <a:p>
            <a:pPr rtl="1" algn="r" marL="177800" indent="-177800">
              <a:spcAft>
                <a:spcPts val="8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מחלוקת: </a:t>
            </a:r>
            <a:pPr rtl="1" algn="r" indent="0" marL="0">
              <a:spcAft>
                <a:spcPts val="8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עלולה לפגוע בשוויון של מי שאינו בקבוצה</a:t>
            </a:r>
            <a:endParaRPr lang="he-IL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5715000"/>
            <a:ext cx="11277295" cy="566928"/>
          </a:xfrm>
          <a:prstGeom prst="roundRect">
            <a:avLst>
              <a:gd name="adj" fmla="val 16129"/>
            </a:avLst>
          </a:prstGeom>
          <a:solidFill>
            <a:srgbClr val="FFF7D6"/>
          </a:solidFill>
          <a:ln w="12700">
            <a:solidFill>
              <a:srgbClr val="E8C547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5852160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94360" y="571500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בהסבר כותבים תמיד 3 דברים: (1) מי הקבוצה, (2) מה היחס השונה, (3) למה מוצדק / לא מוצדק. בהעדפה מתקנת: מה הקיפוח ומה הזמן המוגבל.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זכויות פוליטיות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זכויות  ›  פוליטיות</a:t>
            </a:r>
            <a:endParaRPr lang="he-IL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058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זכויות שקשורות לניהול המדינה. הן הביטוי המעשי לעקרון שלטון העם. חלקן רק לאזרחים, וחלקן נובעות מזכויות טבעיות ולכן לכל אדם.</a:t>
            </a:r>
            <a:endParaRPr lang="he-IL" sz="1600" dirty="0"/>
          </a:p>
        </p:txBody>
      </p:sp>
      <p:sp>
        <p:nvSpPr>
          <p:cNvPr id="7" name="Shape 4"/>
          <p:cNvSpPr/>
          <p:nvPr/>
        </p:nvSpPr>
        <p:spPr>
          <a:xfrm>
            <a:off x="6233008" y="1783080"/>
            <a:ext cx="5501488" cy="3749040"/>
          </a:xfrm>
          <a:prstGeom prst="roundRect">
            <a:avLst>
              <a:gd name="adj" fmla="val 2927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70168" y="1892808"/>
            <a:ext cx="522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🪪  לאזרחים בלבד</a:t>
            </a:r>
            <a:endParaRPr lang="he-IL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370168" y="2322576"/>
            <a:ext cx="5227168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הזכות לבחור ולהיבחר: </a:t>
            </a:r>
            <a:pPr rtl="1" algn="r" indent="0" marL="0">
              <a:spcAft>
                <a:spcPts val="1000"/>
              </a:spcAft>
              <a:buNone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אזרח מגיל מסוים יכול להצביע ולבחור את נציגיו, או להעמיד את עצמו לבחירה</a:t>
            </a:r>
            <a:endParaRPr lang="he-IL" sz="15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חופש ההתאגדות הפוליטית: </a:t>
            </a:r>
            <a:pPr rtl="1" algn="r" indent="0" marL="0">
              <a:spcAft>
                <a:spcPts val="1000"/>
              </a:spcAft>
              <a:buNone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להקים מפלגה או להיות חבר בה, וכך להשפיע על המדינה</a:t>
            </a:r>
            <a:endParaRPr lang="he-IL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1783080"/>
            <a:ext cx="5501488" cy="3749040"/>
          </a:xfrm>
          <a:prstGeom prst="roundRect">
            <a:avLst>
              <a:gd name="adj" fmla="val 2927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1892808"/>
            <a:ext cx="522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לכל אדם (נובעות מזכויות טבעיות)</a:t>
            </a:r>
            <a:endParaRPr lang="he-IL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2322576"/>
            <a:ext cx="5227168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חופש ההפגנה והמחאה: </a:t>
            </a:r>
            <a:pPr rtl="1" algn="r" indent="0" marL="0">
              <a:spcAft>
                <a:spcPts val="1000"/>
              </a:spcAft>
              <a:buNone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נובע מחופש הביטוי. מאפשר להתאסף במרחב הציבורי, למחות ולבקר את השלטון</a:t>
            </a:r>
            <a:endParaRPr lang="he-IL" sz="15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מטרה: להשפיע על דעת הקהל ולהפעיל לחץ חוקי על מקבלי ההחלטות</a:t>
            </a:r>
            <a:endParaRPr lang="he-IL" sz="1500" dirty="0"/>
          </a:p>
        </p:txBody>
      </p:sp>
      <p:sp>
        <p:nvSpPr>
          <p:cNvPr id="13" name="Shape 10"/>
          <p:cNvSpPr/>
          <p:nvPr/>
        </p:nvSpPr>
        <p:spPr>
          <a:xfrm>
            <a:off x="457200" y="5669280"/>
            <a:ext cx="11277295" cy="566928"/>
          </a:xfrm>
          <a:prstGeom prst="roundRect">
            <a:avLst>
              <a:gd name="adj" fmla="val 16129"/>
            </a:avLst>
          </a:prstGeom>
          <a:solidFill>
            <a:srgbClr val="FFF7D6"/>
          </a:solidFill>
          <a:ln w="12700">
            <a:solidFill>
              <a:srgbClr val="E8C54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580644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94360" y="566928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הקשר לקבוצות: הזכות לבחור ← שלטון העם (קבוצה 2). הפגנה ← מנגנון פיקוח בלתי פורמלי (קבוצה 4). פסילת מפלגה ← דמוקרטיה מתגוננת (קבוצה 7).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זכויות חברתיות-כלכליות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זכויות  ›  חברתיות-כלכליות</a:t>
            </a:r>
            <a:endParaRPr lang="he-IL" sz="1200" dirty="0"/>
          </a:p>
        </p:txBody>
      </p:sp>
      <p:sp>
        <p:nvSpPr>
          <p:cNvPr id="6" name="Shape 3"/>
          <p:cNvSpPr/>
          <p:nvPr/>
        </p:nvSpPr>
        <p:spPr>
          <a:xfrm>
            <a:off x="5699455" y="1188720"/>
            <a:ext cx="6035040" cy="4343400"/>
          </a:xfrm>
          <a:prstGeom prst="roundRect">
            <a:avLst>
              <a:gd name="adj" fmla="val 2526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36615" y="1298448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מאפיין אותן?</a:t>
            </a:r>
            <a:endParaRPr lang="he-IL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836615" y="1728216"/>
            <a:ext cx="576072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נותן: </a:t>
            </a:r>
            <a:pPr rtl="1" algn="r" indent="0" marL="0">
              <a:spcAft>
                <a:spcPts val="1000"/>
              </a:spcAft>
              <a:buNone/>
            </a:pPr>
            <a:r>
              <a:rPr lang="he-IL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המדינה מעניקה אותן (בניגוד לזכויות טבעיות)</a:t>
            </a:r>
            <a:endParaRPr lang="he-IL" sz="16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מטרה: </a:t>
            </a:r>
            <a:pPr rtl="1" algn="r" indent="0" marL="0">
              <a:spcAft>
                <a:spcPts val="1000"/>
              </a:spcAft>
              <a:buNone/>
            </a:pPr>
            <a:r>
              <a:rPr lang="he-IL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להבטיח קיום אנושי בכבוד ורמת חיים בסיסית</a:t>
            </a:r>
            <a:endParaRPr lang="he-IL" sz="16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איך: </a:t>
            </a:r>
            <a:pPr rtl="1" algn="r" indent="0" marL="0">
              <a:spcAft>
                <a:spcPts val="1000"/>
              </a:spcAft>
              <a:buNone/>
            </a:pPr>
            <a:r>
              <a:rPr lang="he-IL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באמצעות הקצאת משאבים ושירותים</a:t>
            </a:r>
            <a:endParaRPr lang="he-IL" sz="16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כמה: </a:t>
            </a:r>
            <a:pPr rtl="1" algn="r" indent="0" marL="0">
              <a:spcAft>
                <a:spcPts val="1000"/>
              </a:spcAft>
              <a:buNone/>
            </a:pPr>
            <a:r>
              <a:rPr lang="he-IL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ההיקף תלוי במדיניות החברתית-כלכלית. ברוב הדמוקרטיות הן ניתנות באופן מוגבל ומדוד</a:t>
            </a:r>
            <a:endParaRPr lang="he-IL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4937760" cy="749808"/>
          </a:xfrm>
          <a:prstGeom prst="roundRect">
            <a:avLst>
              <a:gd name="adj" fmla="val 12195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63440" y="118872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</a:t>
            </a:r>
            <a:endParaRPr lang="he-IL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1188720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בריאות</a:t>
            </a:r>
            <a:endParaRPr lang="he-IL" sz="1700" dirty="0"/>
          </a:p>
        </p:txBody>
      </p:sp>
      <p:sp>
        <p:nvSpPr>
          <p:cNvPr id="12" name="Shape 9"/>
          <p:cNvSpPr/>
          <p:nvPr/>
        </p:nvSpPr>
        <p:spPr>
          <a:xfrm>
            <a:off x="457200" y="2057400"/>
            <a:ext cx="4937760" cy="749808"/>
          </a:xfrm>
          <a:prstGeom prst="roundRect">
            <a:avLst>
              <a:gd name="adj" fmla="val 12195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63440" y="205740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</a:t>
            </a:r>
            <a:endParaRPr lang="he-IL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2057400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חינוך</a:t>
            </a:r>
            <a:endParaRPr lang="he-IL" sz="1700" dirty="0"/>
          </a:p>
        </p:txBody>
      </p:sp>
      <p:sp>
        <p:nvSpPr>
          <p:cNvPr id="15" name="Shape 12"/>
          <p:cNvSpPr/>
          <p:nvPr/>
        </p:nvSpPr>
        <p:spPr>
          <a:xfrm>
            <a:off x="457200" y="2926080"/>
            <a:ext cx="4937760" cy="749808"/>
          </a:xfrm>
          <a:prstGeom prst="roundRect">
            <a:avLst>
              <a:gd name="adj" fmla="val 12195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63440" y="292608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</a:t>
            </a:r>
            <a:endParaRPr lang="he-IL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" y="2926080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דיור</a:t>
            </a:r>
            <a:endParaRPr lang="he-IL" sz="1700" dirty="0"/>
          </a:p>
        </p:txBody>
      </p:sp>
      <p:sp>
        <p:nvSpPr>
          <p:cNvPr id="18" name="Shape 15"/>
          <p:cNvSpPr/>
          <p:nvPr/>
        </p:nvSpPr>
        <p:spPr>
          <a:xfrm>
            <a:off x="457200" y="3794760"/>
            <a:ext cx="4937760" cy="749808"/>
          </a:xfrm>
          <a:prstGeom prst="roundRect">
            <a:avLst>
              <a:gd name="adj" fmla="val 12195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663440" y="379476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🛟</a:t>
            </a:r>
            <a:endParaRPr lang="he-IL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594360" y="3794760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ביטחון סוציאלי ורמת חיים בסיסית</a:t>
            </a:r>
            <a:endParaRPr lang="he-IL" sz="1700" dirty="0"/>
          </a:p>
        </p:txBody>
      </p:sp>
      <p:sp>
        <p:nvSpPr>
          <p:cNvPr id="21" name="Shape 18"/>
          <p:cNvSpPr/>
          <p:nvPr/>
        </p:nvSpPr>
        <p:spPr>
          <a:xfrm>
            <a:off x="457200" y="4663440"/>
            <a:ext cx="4937760" cy="749808"/>
          </a:xfrm>
          <a:prstGeom prst="roundRect">
            <a:avLst>
              <a:gd name="adj" fmla="val 12195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663440" y="466344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👷</a:t>
            </a:r>
            <a:endParaRPr lang="he-IL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594360" y="4663440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זכויות עובדים</a:t>
            </a:r>
            <a:endParaRPr lang="he-IL" sz="1700" dirty="0"/>
          </a:p>
        </p:txBody>
      </p:sp>
      <p:sp>
        <p:nvSpPr>
          <p:cNvPr id="24" name="Shape 21"/>
          <p:cNvSpPr/>
          <p:nvPr/>
        </p:nvSpPr>
        <p:spPr>
          <a:xfrm>
            <a:off x="457200" y="5715000"/>
            <a:ext cx="11277295" cy="566928"/>
          </a:xfrm>
          <a:prstGeom prst="roundRect">
            <a:avLst>
              <a:gd name="adj" fmla="val 16129"/>
            </a:avLst>
          </a:prstGeom>
          <a:solidFill>
            <a:srgbClr val="FFF7D6"/>
          </a:solidFill>
          <a:ln w="12700">
            <a:solidFill>
              <a:srgbClr val="E8C547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5852160"/>
            <a:ext cx="292608" cy="29260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94360" y="571500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שימו לב: חינוך יכול להיות זכות חברתית-כלכלית (חינוך חינם לכולם) או זכות קבוצתית (מערכת חינוך נפרדת לקבוצה). תלוי בקטע!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זכויות קבוצתיות (תרבותיות)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זכויות  ›  קבוצתיות</a:t>
            </a:r>
            <a:endParaRPr lang="he-IL" sz="1200" dirty="0"/>
          </a:p>
        </p:txBody>
      </p:sp>
      <p:sp>
        <p:nvSpPr>
          <p:cNvPr id="6" name="Shape 3"/>
          <p:cNvSpPr/>
          <p:nvPr/>
        </p:nvSpPr>
        <p:spPr>
          <a:xfrm>
            <a:off x="6613855" y="1188720"/>
            <a:ext cx="5120640" cy="4343400"/>
          </a:xfrm>
          <a:prstGeom prst="roundRect">
            <a:avLst>
              <a:gd name="adj" fmla="val 2526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51015" y="129844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מאפיין אותן?</a:t>
            </a:r>
            <a:endParaRPr lang="he-IL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751015" y="1728216"/>
            <a:ext cx="484632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המדינה מעניקה אותן לקבוצות בעלות תרבות ייחודית</a:t>
            </a:r>
            <a:endParaRPr lang="he-IL" sz="15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מטרה: </a:t>
            </a:r>
            <a:pPr rtl="1" algn="r" indent="0" marL="0">
              <a:spcAft>
                <a:spcPts val="1000"/>
              </a:spcAft>
              <a:buNone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לשמור על הייחוד התרבותי של הקבוצה: אתני, לאומי, דתי או לשוני</a:t>
            </a:r>
            <a:endParaRPr lang="he-IL" sz="15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תלויות ב-3 דברים: </a:t>
            </a:r>
            <a:pPr rtl="1" algn="r" indent="0" marL="0">
              <a:spcAft>
                <a:spcPts val="1000"/>
              </a:spcAft>
              <a:buNone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רצון הקבוצה לשמור על ייחודה, דרישה שלה מהמדינה ונכונות המדינה להעניק</a:t>
            </a:r>
            <a:endParaRPr lang="he-IL" sz="15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המדינה קובעת את ההיקף ואת מידת התמיכה</a:t>
            </a:r>
            <a:endParaRPr lang="he-IL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5852160" cy="1005840"/>
          </a:xfrm>
          <a:prstGeom prst="roundRect">
            <a:avLst>
              <a:gd name="adj" fmla="val 10909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29844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 שפה</a:t>
            </a:r>
            <a:endParaRPr lang="he-IL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1636776"/>
            <a:ext cx="557784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שימוש בשפת הקבוצה במרחב הציבורי ובמוסדות. בישראל: לערבית מעמד מיוחד, לימוד ובחינות בערבית, שילוט ומטבעות</a:t>
            </a:r>
            <a:endParaRPr lang="he-IL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286000"/>
            <a:ext cx="5852160" cy="1005840"/>
          </a:xfrm>
          <a:prstGeom prst="roundRect">
            <a:avLst>
              <a:gd name="adj" fmla="val 10909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239572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🏫 חינוך</a:t>
            </a:r>
            <a:endParaRPr lang="he-IL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2734056"/>
            <a:ext cx="557784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אוטונומיה חינוכית: מערכת חינוך נפרדת במימון המדינה, לפי ערכי הקבוצה, שפתה ומורשתה</a:t>
            </a:r>
            <a:endParaRPr lang="he-IL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3383280"/>
            <a:ext cx="5852160" cy="1005840"/>
          </a:xfrm>
          <a:prstGeom prst="roundRect">
            <a:avLst>
              <a:gd name="adj" fmla="val 10909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" y="349300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🕌 דת</a:t>
            </a:r>
            <a:endParaRPr lang="he-IL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" y="3831336"/>
            <a:ext cx="557784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מימון אנשי דת, מקומות קדושים ובתי תפילה, ובתי דין דתיים (בישראל: נישואין וגירושין)</a:t>
            </a:r>
            <a:endParaRPr lang="he-IL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4480560"/>
            <a:ext cx="5852160" cy="1005840"/>
          </a:xfrm>
          <a:prstGeom prst="roundRect">
            <a:avLst>
              <a:gd name="adj" fmla="val 10909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94360" y="459028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 ייצוג</a:t>
            </a:r>
            <a:endParaRPr lang="he-IL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94360" y="4928616"/>
            <a:ext cx="557784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שילוב בני מיעוטים במוקדי קבלת החלטות. לדוגמה: חוק הייצוג ההולם בדירקטוריונים של חברות ממשלתיות</a:t>
            </a:r>
            <a:endParaRPr lang="he-IL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5669280"/>
            <a:ext cx="11277295" cy="566928"/>
          </a:xfrm>
          <a:prstGeom prst="roundRect">
            <a:avLst>
              <a:gd name="adj" fmla="val 16129"/>
            </a:avLst>
          </a:prstGeom>
          <a:solidFill>
            <a:srgbClr val="FDECEC"/>
          </a:solidFill>
          <a:ln w="12700">
            <a:solidFill>
              <a:srgbClr val="E39A9A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583" y="5815584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66928" y="5669280"/>
            <a:ext cx="106372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אל תתבלבלו: "חופש דת" זו זכות טבעית של הפרט. "דת" כזכות קבוצתית זו תמיכה ממסדית של המדינה בקבוצה כולה.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 מהבגרות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זכויות  ›  זכויות מתנגשות</a:t>
            </a:r>
            <a:endParaRPr lang="he-IL" sz="1200" dirty="0"/>
          </a:p>
        </p:txBody>
      </p:sp>
      <p:sp>
        <p:nvSpPr>
          <p:cNvPr id="6" name="Shape 3"/>
          <p:cNvSpPr/>
          <p:nvPr/>
        </p:nvSpPr>
        <p:spPr>
          <a:xfrm>
            <a:off x="7528255" y="1143000"/>
            <a:ext cx="4206240" cy="438912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1225296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619695" y="114300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בגרות קיץ תשפ"ב • שאלון 34281</a:t>
            </a:r>
            <a:endParaRPr lang="he-IL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1143000"/>
            <a:ext cx="68881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100" i="1" dirty="0">
                <a:solidFill>
                  <a:srgbClr val="5D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השאלה בתמצית • תשובה לפי פתרונות גבע ו-High-Q (לא רשמיים)</a:t>
            </a:r>
            <a:endParaRPr lang="he-IL" sz="1100" dirty="0"/>
          </a:p>
        </p:txBody>
      </p:sp>
      <p:sp>
        <p:nvSpPr>
          <p:cNvPr id="10" name="Shape 6"/>
          <p:cNvSpPr/>
          <p:nvPr/>
        </p:nvSpPr>
        <p:spPr>
          <a:xfrm>
            <a:off x="6613855" y="1783080"/>
            <a:ext cx="5120640" cy="4526280"/>
          </a:xfrm>
          <a:prstGeom prst="roundRect">
            <a:avLst>
              <a:gd name="adj" fmla="val 2424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751015" y="18928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השאלה</a:t>
            </a:r>
            <a:endParaRPr lang="he-IL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751015" y="2322576"/>
            <a:ext cx="4846320" cy="3913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קטע: ויכוח ציבורי על הפעלת תחבורה ציבורית בשבת. חברת כנסת לשעבר התנגדה, וטענה שנהגי התחבורה הציבורית ייאלצו לעבוד בשבת.</a:t>
            </a:r>
            <a:endParaRPr lang="he-IL" sz="1700" dirty="0"/>
          </a:p>
          <a:p>
            <a:pPr rtl="1" algn="r" indent="0" marL="0">
              <a:spcAft>
                <a:spcPts val="400"/>
              </a:spcAft>
              <a:buNone/>
            </a:pPr>
            <a:endParaRPr lang="he-IL" sz="1700" dirty="0"/>
          </a:p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א. ציינו והציגו את הזכות שתמומש אם תופעל תחבורה ציבורית בשבת. הסבירו.</a:t>
            </a:r>
            <a:endParaRPr lang="he-IL" sz="1700" dirty="0"/>
          </a:p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ב. הציגו את הנימוק שכנגד.</a:t>
            </a:r>
            <a:endParaRPr lang="he-IL" sz="1700" dirty="0"/>
          </a:p>
        </p:txBody>
      </p:sp>
      <p:sp>
        <p:nvSpPr>
          <p:cNvPr id="13" name="Shape 9"/>
          <p:cNvSpPr/>
          <p:nvPr/>
        </p:nvSpPr>
        <p:spPr>
          <a:xfrm>
            <a:off x="457200" y="1783080"/>
            <a:ext cx="5882335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94360" y="1892808"/>
            <a:ext cx="5608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תשובה לדוגמה</a:t>
            </a:r>
            <a:endParaRPr lang="he-IL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594360" y="2322576"/>
            <a:ext cx="5608015" cy="3913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1400"/>
              </a:spcAft>
              <a:buSzPct val="100000"/>
              <a:buChar char="•"/>
            </a:pPr>
            <a:r>
              <a:rPr lang="he-IL" altLang="en-US" sz="17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א. ציין: </a:t>
            </a:r>
            <a:pPr rtl="1" algn="r" indent="0" marL="0">
              <a:spcAft>
                <a:spcPts val="1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חופש התנועה</a:t>
            </a:r>
            <a:endParaRPr lang="he-IL" sz="1700" dirty="0"/>
          </a:p>
          <a:p>
            <a:pPr rtl="1" algn="r" marL="177800" indent="-177800">
              <a:spcAft>
                <a:spcPts val="1400"/>
              </a:spcAft>
              <a:buSzPct val="100000"/>
              <a:buChar char="•"/>
            </a:pPr>
            <a:r>
              <a:rPr lang="he-IL" altLang="en-US" sz="17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הצג: </a:t>
            </a:r>
            <a:pPr rtl="1" algn="r" indent="0" marL="0">
              <a:spcAft>
                <a:spcPts val="1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הזכות של כל אדם לנוע כרצונו ולהימצא בכל מקום</a:t>
            </a:r>
            <a:endParaRPr lang="he-IL" sz="1700" dirty="0"/>
          </a:p>
          <a:p>
            <a:pPr rtl="1" algn="r" marL="177800" indent="-177800">
              <a:spcAft>
                <a:spcPts val="1400"/>
              </a:spcAft>
              <a:buSzPct val="100000"/>
              <a:buChar char="•"/>
            </a:pPr>
            <a:r>
              <a:rPr lang="he-IL" altLang="en-US" sz="17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הסבר: </a:t>
            </a:r>
            <a:pPr rtl="1" algn="r" indent="0" marL="0">
              <a:spcAft>
                <a:spcPts val="1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תחבורה בשבת תאפשר ניידות גם למי שאין לו רכב פרטי</a:t>
            </a:r>
            <a:endParaRPr lang="he-IL" sz="1700" dirty="0"/>
          </a:p>
          <a:p>
            <a:pPr rtl="1" algn="r" marL="177800" indent="-177800">
              <a:spcAft>
                <a:spcPts val="1400"/>
              </a:spcAft>
              <a:buSzPct val="100000"/>
              <a:buChar char="•"/>
            </a:pPr>
            <a:r>
              <a:rPr lang="he-IL" altLang="en-US" sz="17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ב: </a:t>
            </a:r>
            <a:pPr rtl="1" algn="r" indent="0" marL="0">
              <a:spcAft>
                <a:spcPts val="1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הנהגים ייאלצו לעבוד בשבת, וזו פגיעה בזכותם למנוחה ביום השבתון (חוק שעות עבודה ומנוחה). שתי הזכויות מתנגשות ונדרש איזון</a:t>
            </a:r>
            <a:endParaRPr lang="he-IL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 מהבגרות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זכויות  ›  העדפה מתקנת</a:t>
            </a:r>
            <a:endParaRPr lang="he-IL" sz="1200" dirty="0"/>
          </a:p>
        </p:txBody>
      </p:sp>
      <p:sp>
        <p:nvSpPr>
          <p:cNvPr id="6" name="Shape 3"/>
          <p:cNvSpPr/>
          <p:nvPr/>
        </p:nvSpPr>
        <p:spPr>
          <a:xfrm>
            <a:off x="7528255" y="1143000"/>
            <a:ext cx="4206240" cy="438912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1225296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619695" y="114300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בגרות קיץ תשפ"ד • שאלון 34281</a:t>
            </a:r>
            <a:endParaRPr lang="he-IL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1143000"/>
            <a:ext cx="68881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100" i="1" dirty="0">
                <a:solidFill>
                  <a:srgbClr val="5D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מתוך הסיכומים שלך</a:t>
            </a:r>
            <a:endParaRPr lang="he-IL" sz="1100" dirty="0"/>
          </a:p>
        </p:txBody>
      </p:sp>
      <p:sp>
        <p:nvSpPr>
          <p:cNvPr id="10" name="Shape 6"/>
          <p:cNvSpPr/>
          <p:nvPr/>
        </p:nvSpPr>
        <p:spPr>
          <a:xfrm>
            <a:off x="6613855" y="1783080"/>
            <a:ext cx="5120640" cy="4526280"/>
          </a:xfrm>
          <a:prstGeom prst="roundRect">
            <a:avLst>
              <a:gd name="adj" fmla="val 2424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751015" y="18928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השאלה</a:t>
            </a:r>
            <a:endParaRPr lang="he-IL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751015" y="2322576"/>
            <a:ext cx="4846320" cy="3913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אחת האוניברסיטאות גיבשה תוכנית שלפיה לפחות 10% מהמתקבלים ללימודי רפואה יהיו ממוצא אתיופי או מיישובי הפריפריה. עד כה שיעורם בפקולטה היה קטן באופן ניכר משיעורם בחברה. מטרת התוכנית: להגדיל לתקופה מסוימת את שיעורם.</a:t>
            </a:r>
            <a:endParaRPr lang="he-IL" sz="1700" dirty="0"/>
          </a:p>
          <a:p>
            <a:pPr rtl="1" algn="r" indent="0" marL="0">
              <a:spcAft>
                <a:spcPts val="400"/>
              </a:spcAft>
              <a:buNone/>
            </a:pPr>
            <a:endParaRPr lang="he-IL" sz="1700" dirty="0"/>
          </a:p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ציינו והציגו את סוג המדיניות (הבחנה או העדפה מתקנת) שבא לידי ביטוי בתוכנית. הסבירו.</a:t>
            </a:r>
            <a:endParaRPr lang="he-IL" sz="1700" dirty="0"/>
          </a:p>
        </p:txBody>
      </p:sp>
      <p:sp>
        <p:nvSpPr>
          <p:cNvPr id="13" name="Shape 9"/>
          <p:cNvSpPr/>
          <p:nvPr/>
        </p:nvSpPr>
        <p:spPr>
          <a:xfrm>
            <a:off x="457200" y="1783080"/>
            <a:ext cx="5882335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94360" y="1892808"/>
            <a:ext cx="5608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תשובה לדוגמה</a:t>
            </a:r>
            <a:endParaRPr lang="he-IL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594360" y="2322576"/>
            <a:ext cx="5608015" cy="3913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1400"/>
              </a:spcAft>
              <a:buSzPct val="100000"/>
              <a:buChar char="•"/>
            </a:pPr>
            <a:r>
              <a:rPr lang="he-IL" altLang="en-US" sz="17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ציין: </a:t>
            </a:r>
            <a:pPr rtl="1" algn="r" indent="0" marL="0">
              <a:spcAft>
                <a:spcPts val="1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העדפה מתקנת</a:t>
            </a:r>
            <a:endParaRPr lang="he-IL" sz="1700" dirty="0"/>
          </a:p>
          <a:p>
            <a:pPr rtl="1" algn="r" marL="177800" indent="-177800">
              <a:spcAft>
                <a:spcPts val="1400"/>
              </a:spcAft>
              <a:buSzPct val="100000"/>
              <a:buChar char="•"/>
            </a:pPr>
            <a:r>
              <a:rPr lang="he-IL" altLang="en-US" sz="17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הצג: </a:t>
            </a:r>
            <a:pPr rtl="1" algn="r" indent="0" marL="0">
              <a:spcAft>
                <a:spcPts val="1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יחס מועדף לקבוצה שקופחה, כדי לצמצם פערים, לזמן מוגבל</a:t>
            </a:r>
            <a:endParaRPr lang="he-IL" sz="1700" dirty="0"/>
          </a:p>
          <a:p>
            <a:pPr rtl="1" algn="r" marL="177800" indent="-177800">
              <a:spcAft>
                <a:spcPts val="1400"/>
              </a:spcAft>
              <a:buSzPct val="100000"/>
              <a:buChar char="•"/>
            </a:pPr>
            <a:r>
              <a:rPr lang="he-IL" altLang="en-US" sz="17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הסבר: </a:t>
            </a:r>
            <a:pPr rtl="1" algn="r" indent="0" marL="0">
              <a:spcAft>
                <a:spcPts val="1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הקבוצות המקופחות: יוצאי אתיופיה ותושבי הפריפריה (שיעורם בפקולטה נמוך משיעורם בחברה). היחס המועדף: שריון 10% מהמקומות. זמן מוגבל: "לתקופה מסוימת"</a:t>
            </a:r>
            <a:endParaRPr lang="he-IL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A6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914400"/>
            <a:ext cx="1463040" cy="1463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1455" y="128016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960120"/>
            <a:ext cx="90827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קבוצה 6</a:t>
            </a:r>
            <a:endParaRPr lang="he-IL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371600"/>
            <a:ext cx="908273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גישות חברתיות-כלכליות</a:t>
            </a:r>
            <a:endParaRPr lang="he-IL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880360"/>
            <a:ext cx="1127729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בפרק הזה:</a:t>
            </a:r>
            <a:endParaRPr lang="he-IL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91840"/>
            <a:ext cx="11277295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הגישה הניאו-ליברלית</a:t>
            </a:r>
            <a:endParaRPr lang="he-IL" sz="18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הגישה הסוציאל-דמוקרטית</a:t>
            </a:r>
            <a:endParaRPr lang="he-IL" sz="18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השוואה ודוגמאות למדיניות</a:t>
            </a:r>
            <a:endParaRPr lang="he-IL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CA6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ניאו-ליברלית מול סוציאל-דמוקרטית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גישות כלכליות  ›  השוואה</a:t>
            </a:r>
            <a:endParaRPr lang="he-IL" sz="12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7295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4480560"/>
                <a:gridCol w="2313432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🤝 סוציאל-דמוקרטית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6F1E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🏪 ניאו-ליברלית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6F1E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6F1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שוויון חברתי-כלכלי וצמצום פערים, בשם הסולידריות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חירות כלכלית. היא תקדם את טובת כולם, גם את החלשים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מה מדגישה?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המדינה אחראית לחלש. הפרט יכול להישען על עזרת המדינה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הפרט אחראי לגורלו. המדינה עוזרת רק למי שבאמת לא יכול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אחריות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רבה: רשת ביטחון סוציאלי רחבה, קיום בסיסי בכבוד (עדיין כלכלת שוק)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מינימלית: שוק חופשי ויוזמה פרטית. רק שירותים שהשוק לא יספק (כבישים, תאורה)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מעורבות המדינה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גבוה על העשירונים העליונים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נמוך ככל האפשר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מיסוי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3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סבסוד מוצרים ושירותים, שירותים חברתיים, חקיקה חברתית (חוק בריאות ממלכתי, חינוך חובה חינם), קצבאות, הלאמה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הפרטה, קיצוץ תקציבים, צמצום קצבאות, עידוד תחרות (רפורמת הסלולר)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דוגמאות למדיניות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3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5669280"/>
            <a:ext cx="11277295" cy="566928"/>
          </a:xfrm>
          <a:prstGeom prst="roundRect">
            <a:avLst>
              <a:gd name="adj" fmla="val 16129"/>
            </a:avLst>
          </a:prstGeom>
          <a:solidFill>
            <a:srgbClr val="FFF7D6"/>
          </a:solidFill>
          <a:ln w="12700">
            <a:solidFill>
              <a:srgbClr val="E8C547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5806440"/>
            <a:ext cx="292608" cy="2926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94360" y="566928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שאלה מנחה: "מי צריך לדאוג לחלש?" השוק והפרט ← ניאו-ליברלית. המדינה ← סוציאל-דמוקרטית. זה בדיוק המתח בין חירות לשוויון.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CA6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 מהבגרות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גישות כלכליות  ›  סוציאל-דמוקרטית</a:t>
            </a:r>
            <a:endParaRPr lang="he-IL" sz="1200" dirty="0"/>
          </a:p>
        </p:txBody>
      </p:sp>
      <p:sp>
        <p:nvSpPr>
          <p:cNvPr id="6" name="Shape 3"/>
          <p:cNvSpPr/>
          <p:nvPr/>
        </p:nvSpPr>
        <p:spPr>
          <a:xfrm>
            <a:off x="7528255" y="1143000"/>
            <a:ext cx="4206240" cy="438912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1225296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619695" y="114300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בגרות קיץ תשע"ח • שאלון 34281</a:t>
            </a:r>
            <a:endParaRPr lang="he-IL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1143000"/>
            <a:ext cx="68881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100" i="1" dirty="0">
                <a:solidFill>
                  <a:srgbClr val="5D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השאלה בתמצית • תשובה לפי פתרון גבע (לא רשמי)</a:t>
            </a:r>
            <a:endParaRPr lang="he-IL" sz="1100" dirty="0"/>
          </a:p>
        </p:txBody>
      </p:sp>
      <p:sp>
        <p:nvSpPr>
          <p:cNvPr id="10" name="Shape 6"/>
          <p:cNvSpPr/>
          <p:nvPr/>
        </p:nvSpPr>
        <p:spPr>
          <a:xfrm>
            <a:off x="6613855" y="1783080"/>
            <a:ext cx="5120640" cy="4526280"/>
          </a:xfrm>
          <a:prstGeom prst="roundRect">
            <a:avLst>
              <a:gd name="adj" fmla="val 2424"/>
            </a:avLst>
          </a:prstGeom>
          <a:solidFill>
            <a:srgbClr val="FCEFE3"/>
          </a:solidFill>
          <a:ln w="12700">
            <a:solidFill>
              <a:srgbClr val="FCEFE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751015" y="18928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CA6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השאלה</a:t>
            </a:r>
            <a:endParaRPr lang="he-IL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751015" y="2322576"/>
            <a:ext cx="4846320" cy="3913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קטע: הממשלה מממנת מרכזים לקידום תעסוקה בחברה הערבית. הכותב טוען שיש להעלות את השכר הממוצע בחברה הערבית לרמת השכר בחברה היהודית.</a:t>
            </a:r>
            <a:endParaRPr lang="he-IL" sz="1700" dirty="0"/>
          </a:p>
          <a:p>
            <a:pPr rtl="1" algn="r" indent="0" marL="0">
              <a:spcAft>
                <a:spcPts val="400"/>
              </a:spcAft>
              <a:buNone/>
            </a:pPr>
            <a:endParaRPr lang="he-IL" sz="1700" dirty="0"/>
          </a:p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ציינו והציגו את הגישה הכלכלית-חברתית שבאה לידי ביטוי בקטע. הסבירו.</a:t>
            </a:r>
            <a:endParaRPr lang="he-IL" sz="1700" dirty="0"/>
          </a:p>
        </p:txBody>
      </p:sp>
      <p:sp>
        <p:nvSpPr>
          <p:cNvPr id="13" name="Shape 9"/>
          <p:cNvSpPr/>
          <p:nvPr/>
        </p:nvSpPr>
        <p:spPr>
          <a:xfrm>
            <a:off x="457200" y="1783080"/>
            <a:ext cx="5882335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94360" y="1892808"/>
            <a:ext cx="5608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CA6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תשובה לדוגמה</a:t>
            </a:r>
            <a:endParaRPr lang="he-IL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594360" y="2322576"/>
            <a:ext cx="5608015" cy="3913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1400"/>
              </a:spcAft>
              <a:buSzPct val="100000"/>
              <a:buChar char="•"/>
            </a:pPr>
            <a:r>
              <a:rPr lang="he-IL" altLang="en-US" sz="17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ציין: </a:t>
            </a:r>
            <a:pPr rtl="1" algn="r" indent="0" marL="0">
              <a:spcAft>
                <a:spcPts val="1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הגישה הסוציאל-דמוקרטית</a:t>
            </a:r>
            <a:endParaRPr lang="he-IL" sz="1700" dirty="0"/>
          </a:p>
          <a:p>
            <a:pPr rtl="1" algn="r" marL="177800" indent="-177800">
              <a:spcAft>
                <a:spcPts val="1400"/>
              </a:spcAft>
              <a:buSzPct val="100000"/>
              <a:buChar char="•"/>
            </a:pPr>
            <a:r>
              <a:rPr lang="he-IL" altLang="en-US" sz="17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הצג: </a:t>
            </a:r>
            <a:pPr rtl="1" algn="r" indent="0" marL="0">
              <a:spcAft>
                <a:spcPts val="1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שוויון חברתי-כלכלי קודם לחירות הכלכלית. המדינה מעורבת במידה רבה כדי לצמצם פערים ולהבטיח קיום בכבוד</a:t>
            </a:r>
            <a:endParaRPr lang="he-IL" sz="1700" dirty="0"/>
          </a:p>
          <a:p>
            <a:pPr rtl="1" algn="r" marL="177800" indent="-177800">
              <a:spcAft>
                <a:spcPts val="1400"/>
              </a:spcAft>
              <a:buSzPct val="100000"/>
              <a:buChar char="•"/>
            </a:pPr>
            <a:r>
              <a:rPr lang="he-IL" altLang="en-US" sz="17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הסבר: </a:t>
            </a:r>
            <a:pPr rtl="1" algn="r" indent="0" marL="0">
              <a:spcAft>
                <a:spcPts val="1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הממשלה מתערבת ומממנת מרכזי תעסוקה כדי לצמצם את פערי השכר בין החברה הערבית ליהודית</a:t>
            </a:r>
            <a:endParaRPr lang="he-IL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3449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914400"/>
            <a:ext cx="1463040" cy="1463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1455" y="128016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960120"/>
            <a:ext cx="90827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קבוצה 7</a:t>
            </a:r>
            <a:endParaRPr lang="he-IL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371600"/>
            <a:ext cx="908273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גבולות הדמוקרטיה וביטחון</a:t>
            </a:r>
            <a:endParaRPr lang="he-IL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880360"/>
            <a:ext cx="1127729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בפרק הזה:</a:t>
            </a:r>
            <a:endParaRPr lang="he-IL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91840"/>
            <a:ext cx="11277295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הסכנה והשאלה: גבולות הדמוקרטיה</a:t>
            </a:r>
            <a:endParaRPr lang="he-IL" sz="18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דמוקרטיה אבסולוטית מול דמוקרטיה מתגוננת</a:t>
            </a:r>
            <a:endParaRPr lang="he-IL" sz="18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דמוקרטיה מתגוננת בישראל: סעיף 7א</a:t>
            </a:r>
            <a:endParaRPr lang="he-IL" sz="18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ביטחון ודמוקרטיה: תקנות שעת חירום ומעצר מנהלי</a:t>
            </a:r>
            <a:endParaRPr lang="he-IL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גבולות הדמוקרטיה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גבולות הדמוקרטיה  ›  שתי גישות</a:t>
            </a:r>
            <a:endParaRPr lang="he-IL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11277295" cy="960120"/>
          </a:xfrm>
          <a:prstGeom prst="roundRect">
            <a:avLst>
              <a:gd name="adj" fmla="val 11429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25272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הסכנה: </a:t>
            </a:r>
            <a:pPr rtl="1" algn="r" indent="0" marL="0">
              <a:spcAft>
                <a:spcPts val="400"/>
              </a:spcAft>
              <a:buNone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קבוצה שלא מקבלת את ערכי הדמוקרטיה מנצלת את הכלים הדמוקרטיים (בחירות, הפגנות, חופש ביטוי) כדי לחסל אותה.</a:t>
            </a:r>
            <a:endParaRPr lang="he-IL" sz="1500" dirty="0"/>
          </a:p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השאלה: </a:t>
            </a:r>
            <a:pPr rtl="1" algn="r" indent="0" marL="0">
              <a:spcAft>
                <a:spcPts val="400"/>
              </a:spcAft>
              <a:buNone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האם הדמוקרטיה צריכה להגביל קבוצות אנטי-דמוקרטיות כדי להגן על עצמה?</a:t>
            </a:r>
            <a:endParaRPr lang="he-IL" sz="1500" dirty="0"/>
          </a:p>
        </p:txBody>
      </p:sp>
      <p:sp>
        <p:nvSpPr>
          <p:cNvPr id="8" name="Shape 5"/>
          <p:cNvSpPr/>
          <p:nvPr/>
        </p:nvSpPr>
        <p:spPr>
          <a:xfrm>
            <a:off x="6233008" y="2286000"/>
            <a:ext cx="5501488" cy="3291840"/>
          </a:xfrm>
          <a:prstGeom prst="roundRect">
            <a:avLst>
              <a:gd name="adj" fmla="val 3333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70168" y="2395728"/>
            <a:ext cx="522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🗽  דמוקרטיה אבסולוטית: לא מגבילים</a:t>
            </a:r>
            <a:endParaRPr lang="he-IL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370168" y="2825496"/>
            <a:ext cx="5227168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חשיבות עליונה לחופש הביטוי, ההתארגנות והבחירות, גם לגזענים ולמי שרוצה לבטל את הדמוקרטיה</a:t>
            </a:r>
            <a:endParaRPr lang="he-IL" sz="14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ביטוי גלוי ממתן את העמדות. דיכוי מוביל להקצנה, אלימות ומחתרת</a:t>
            </a:r>
            <a:endParaRPr lang="he-IL" sz="14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הדמוקרטיה חזקה ותתמודד עם הדעות</a:t>
            </a:r>
            <a:endParaRPr lang="he-IL" sz="14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פועלים רק נגד מעשים פליליים</a:t>
            </a:r>
            <a:endParaRPr lang="he-IL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5501488" cy="3291840"/>
          </a:xfrm>
          <a:prstGeom prst="roundRect">
            <a:avLst>
              <a:gd name="adj" fmla="val 3333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2395728"/>
            <a:ext cx="522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  דמוקרטיה מתגוננת: מגבילים</a:t>
            </a:r>
            <a:endParaRPr lang="he-IL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2825496"/>
            <a:ext cx="5227168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מגבילים את מי שרוצה לפגוע במשטר הדמוקרטי, בערכיו ובאופי המדינה</a:t>
            </a:r>
            <a:endParaRPr lang="he-IL" sz="14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הגבלת חופש הביטוי, הזכות להיבחר וחופש ההתאגדות. לדוגמה: איסור הסתה גזענית, הוצאת ארגון אל מחוץ לחוק, פסילת מפלגה</a:t>
            </a:r>
            <a:endParaRPr lang="he-IL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5715000"/>
            <a:ext cx="11277295" cy="594360"/>
          </a:xfrm>
          <a:prstGeom prst="roundRect">
            <a:avLst>
              <a:gd name="adj" fmla="val 15385"/>
            </a:avLst>
          </a:prstGeom>
          <a:solidFill>
            <a:srgbClr val="FDECEC"/>
          </a:solidFill>
          <a:ln w="12700">
            <a:solidFill>
              <a:srgbClr val="E39A9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583" y="587502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66928" y="5715000"/>
            <a:ext cx="106372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הסכנות בגישה המתגוננת: השלטון עלול לפגוע בזכויות שלא לצורך "בשם הדמוקרטיה", וקבוצות שהוצאו מחוץ לחוק עלולות לרדת למחתרת.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דמוקרטיה מתגוננת בישראל: סעיף 7א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גבולות הדמוקרטיה  ›  סעיף 7א</a:t>
            </a:r>
            <a:endParaRPr lang="he-IL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058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לפי סעיף 7א לחוק יסוד: הכנסת, מפלגה או מועמד לא יוכלו להתמודד לכנסת אם יש במטרותיהם או במעשיהם אחד מאלה:</a:t>
            </a:r>
            <a:endParaRPr lang="he-IL" sz="1600" dirty="0"/>
          </a:p>
        </p:txBody>
      </p:sp>
      <p:sp>
        <p:nvSpPr>
          <p:cNvPr id="7" name="Shape 4"/>
          <p:cNvSpPr/>
          <p:nvPr/>
        </p:nvSpPr>
        <p:spPr>
          <a:xfrm>
            <a:off x="8158277" y="1783080"/>
            <a:ext cx="3576218" cy="1737360"/>
          </a:xfrm>
          <a:prstGeom prst="roundRect">
            <a:avLst>
              <a:gd name="adj" fmla="val 6316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957255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he-IL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8341157" y="2514600"/>
            <a:ext cx="32104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שלילת קיום ישראל כמדינה יהודית ודמוקרטית</a:t>
            </a:r>
            <a:endParaRPr lang="he-IL" sz="1700" dirty="0"/>
          </a:p>
        </p:txBody>
      </p:sp>
      <p:sp>
        <p:nvSpPr>
          <p:cNvPr id="10" name="Shape 7"/>
          <p:cNvSpPr/>
          <p:nvPr/>
        </p:nvSpPr>
        <p:spPr>
          <a:xfrm>
            <a:off x="4307738" y="1783080"/>
            <a:ext cx="3576218" cy="1737360"/>
          </a:xfrm>
          <a:prstGeom prst="roundRect">
            <a:avLst>
              <a:gd name="adj" fmla="val 6316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06717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he-IL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4490618" y="2514600"/>
            <a:ext cx="32104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הסתה לגזענות</a:t>
            </a:r>
            <a:endParaRPr lang="he-IL" sz="1700" dirty="0"/>
          </a:p>
        </p:txBody>
      </p:sp>
      <p:sp>
        <p:nvSpPr>
          <p:cNvPr id="13" name="Shape 10"/>
          <p:cNvSpPr/>
          <p:nvPr/>
        </p:nvSpPr>
        <p:spPr>
          <a:xfrm>
            <a:off x="457200" y="1783080"/>
            <a:ext cx="3576218" cy="1737360"/>
          </a:xfrm>
          <a:prstGeom prst="roundRect">
            <a:avLst>
              <a:gd name="adj" fmla="val 6316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56178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he-IL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2514600"/>
            <a:ext cx="32104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תמיכה במאבק מזוין של מדינת אויב או ארגון טרור נגד ישראל</a:t>
            </a:r>
            <a:endParaRPr lang="he-IL" sz="1700" dirty="0"/>
          </a:p>
        </p:txBody>
      </p:sp>
      <p:sp>
        <p:nvSpPr>
          <p:cNvPr id="16" name="Shape 13"/>
          <p:cNvSpPr/>
          <p:nvPr/>
        </p:nvSpPr>
        <p:spPr>
          <a:xfrm>
            <a:off x="6233008" y="3749040"/>
            <a:ext cx="5501488" cy="1828800"/>
          </a:xfrm>
          <a:prstGeom prst="roundRect">
            <a:avLst>
              <a:gd name="adj" fmla="val 6000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70168" y="3858768"/>
            <a:ext cx="522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מחליט?</a:t>
            </a:r>
            <a:endParaRPr lang="he-IL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370168" y="4288536"/>
            <a:ext cx="5227168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ועדת הבחירות המרכזית מחליטה</a:t>
            </a:r>
            <a:endParaRPr lang="he-IL" sz="1400" dirty="0"/>
          </a:p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פסילת מועמד חייבת אישור של בית המשפט העליון (ומפלגה שנפסלה יכולה לערער לעליון)</a:t>
            </a:r>
            <a:endParaRPr lang="he-IL" sz="1400" dirty="0"/>
          </a:p>
        </p:txBody>
      </p:sp>
      <p:sp>
        <p:nvSpPr>
          <p:cNvPr id="19" name="Shape 16"/>
          <p:cNvSpPr/>
          <p:nvPr/>
        </p:nvSpPr>
        <p:spPr>
          <a:xfrm>
            <a:off x="457200" y="3749040"/>
            <a:ext cx="5501488" cy="1828800"/>
          </a:xfrm>
          <a:prstGeom prst="roundRect">
            <a:avLst>
              <a:gd name="adj" fmla="val 6000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3858768"/>
            <a:ext cx="522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גישה מצמצמת</a:t>
            </a:r>
            <a:endParaRPr lang="he-IL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4288536"/>
            <a:ext cx="5227168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העליון פוסל רק במקרים קיצוניים: למשל, רק מפלגה ששלילת המאפיינים הבסיסיים של אופי המדינה היהודי היא מרכזית ודומיננטית במטרותיה</a:t>
            </a:r>
            <a:endParaRPr lang="he-IL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5760720"/>
            <a:ext cx="11277295" cy="502920"/>
          </a:xfrm>
          <a:prstGeom prst="roundRect">
            <a:avLst>
              <a:gd name="adj" fmla="val 18182"/>
            </a:avLst>
          </a:prstGeom>
          <a:solidFill>
            <a:srgbClr val="FFF7D6"/>
          </a:solidFill>
          <a:ln w="12700">
            <a:solidFill>
              <a:srgbClr val="E8C547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5865876"/>
            <a:ext cx="292608" cy="292608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94360" y="5760720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לזכירה: 7א = 3 עילות ← "שלילה, הסתה, טרור".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ביטחון ודמוקרטיה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גבולות הדמוקרטיה  ›  ביטחון</a:t>
            </a:r>
            <a:endParaRPr lang="he-IL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11277295" cy="1188720"/>
          </a:xfrm>
          <a:prstGeom prst="roundRect">
            <a:avLst>
              <a:gd name="adj" fmla="val 9231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252728"/>
            <a:ext cx="1100297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למדינה יש חובה להגן על עצמה ועל אזרחיה (הזכות לחיים ולביטחון), אבל שמירה על הביטחון עלולה לפגוע בזכויות. לכן המדינה צריכה לחפש כל הזמן איזון מידתי.</a:t>
            </a:r>
            <a:endParaRPr lang="he-IL" sz="1400" dirty="0"/>
          </a:p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אמצעים בישראל: </a:t>
            </a:r>
            <a:pPr rtl="1" algn="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תקנות ההגנה, תקנות שעת חירום, פקודת מניעת טרור, האזנות סתר וחיפושים, מעצר מנהלי</a:t>
            </a:r>
            <a:endParaRPr lang="he-IL" sz="1400" dirty="0"/>
          </a:p>
        </p:txBody>
      </p:sp>
      <p:sp>
        <p:nvSpPr>
          <p:cNvPr id="8" name="Shape 5"/>
          <p:cNvSpPr/>
          <p:nvPr/>
        </p:nvSpPr>
        <p:spPr>
          <a:xfrm>
            <a:off x="6233008" y="2514600"/>
            <a:ext cx="5501488" cy="3108960"/>
          </a:xfrm>
          <a:prstGeom prst="roundRect">
            <a:avLst>
              <a:gd name="adj" fmla="val 3529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70168" y="2624328"/>
            <a:ext cx="522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  תקנות לשעת חירום</a:t>
            </a:r>
            <a:endParaRPr lang="he-IL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370168" y="3054096"/>
            <a:ext cx="5227168" cy="2496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הממשלה מתקינה אותן להגנת המדינה, ביטחון הציבור ואספקת שירותים חיוניים</a:t>
            </a:r>
            <a:endParaRPr lang="he-IL" sz="1300" dirty="0"/>
          </a:p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ייחוד: </a:t>
            </a:r>
            <a:pPr rtl="1" algn="r" indent="0" marL="0">
              <a:spcAft>
                <a:spcPts val="400"/>
              </a:spcAft>
              <a:buNone/>
            </a:pPr>
            <a:r>
              <a:rPr lang="he-IL" alt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הן חקיקת משנה, אבל יכולות לגבור על חוק (חוץ מחוקים חסינים: ח"י כבוד האדם וחירותו, חופש העיסוק, הכנסת)</a:t>
            </a:r>
            <a:endParaRPr lang="he-IL" sz="1300" dirty="0"/>
          </a:p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תנאי: </a:t>
            </a:r>
            <a:pPr rtl="1" algn="r" indent="0" marL="0">
              <a:spcAft>
                <a:spcPts val="400"/>
              </a:spcAft>
              <a:buNone/>
            </a:pPr>
            <a:r>
              <a:rPr lang="he-IL" alt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 במצב חירום שהכנסת הכריזה עליו. בפועל מוכרז מאז קום המדינה ומחודש כל שנה</a:t>
            </a:r>
            <a:endParaRPr lang="he-IL" sz="1300" dirty="0"/>
          </a:p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הגבלות: </a:t>
            </a:r>
            <a:pPr rtl="1" algn="r" indent="0" marL="0">
              <a:spcAft>
                <a:spcPts val="400"/>
              </a:spcAft>
              <a:buNone/>
            </a:pPr>
            <a:r>
              <a:rPr lang="he-IL" alt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תוקף 3 חודשים בלבד, ואינן יכולות למנוע פנייה לבית משפט</a:t>
            </a:r>
            <a:endParaRPr lang="he-IL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514600"/>
            <a:ext cx="5501488" cy="3108960"/>
          </a:xfrm>
          <a:prstGeom prst="roundRect">
            <a:avLst>
              <a:gd name="adj" fmla="val 3529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2624328"/>
            <a:ext cx="522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מעצר מנהלי</a:t>
            </a:r>
            <a:endParaRPr lang="he-IL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3054096"/>
            <a:ext cx="5227168" cy="2496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מוטל ע"י הרשות המבצעת: מעצר מניעתי, בלי משפט, בלי כתב אישום, והעצור לא רואה את הראיות</a:t>
            </a:r>
            <a:endParaRPr lang="he-IL" sz="1300" dirty="0"/>
          </a:p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מטרה: </a:t>
            </a:r>
            <a:pPr rtl="1" algn="r" indent="0" marL="0">
              <a:spcAft>
                <a:spcPts val="400"/>
              </a:spcAft>
              <a:buNone/>
            </a:pPr>
            <a:r>
              <a:rPr lang="he-IL" alt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למנוע פגיעה בביטחון לפני שבוצעה עבירה</a:t>
            </a:r>
            <a:endParaRPr lang="he-IL" sz="1300" dirty="0"/>
          </a:p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פוגע ב: </a:t>
            </a:r>
            <a:pPr rtl="1" algn="r" indent="0" marL="0">
              <a:spcAft>
                <a:spcPts val="400"/>
              </a:spcAft>
              <a:buNone/>
            </a:pPr>
            <a:r>
              <a:rPr lang="he-IL" alt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הזכות לחירות והזכות להליך הוגן</a:t>
            </a:r>
            <a:endParaRPr lang="he-IL" sz="1300" dirty="0"/>
          </a:p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he-IL" alt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הגבלות: </a:t>
            </a:r>
            <a:pPr rtl="1" algn="r" indent="0" marL="0">
              <a:spcAft>
                <a:spcPts val="400"/>
              </a:spcAft>
              <a:buNone/>
            </a:pPr>
            <a:r>
              <a:rPr lang="he-IL" alt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 6 חודשים (ניתן לחידוש), רק שר הביטחון מורה, בית משפט בוחן כל 3 חודשים</a:t>
            </a:r>
            <a:endParaRPr lang="he-IL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5760720"/>
            <a:ext cx="11277295" cy="502920"/>
          </a:xfrm>
          <a:prstGeom prst="roundRect">
            <a:avLst>
              <a:gd name="adj" fmla="val 18182"/>
            </a:avLst>
          </a:prstGeom>
          <a:solidFill>
            <a:srgbClr val="FFF7D6"/>
          </a:solidFill>
          <a:ln w="12700">
            <a:solidFill>
              <a:srgbClr val="E8C54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5865876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94360" y="5760720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מספרים לזכור: תקנות חירום ← 3 חודשים. מעצר מנהלי ← עד 6 חודשים, ביקורת שיפוטית כל 3 חודשים.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66160" y="292608"/>
            <a:ext cx="8168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 מהבגרות</a:t>
            </a:r>
            <a:endParaRPr lang="he-IL" sz="3000" dirty="0"/>
          </a:p>
        </p:txBody>
      </p:sp>
      <p:sp>
        <p:nvSpPr>
          <p:cNvPr id="3" name="group-tag"/>
          <p:cNvSpPr/>
          <p:nvPr/>
        </p:nvSpPr>
        <p:spPr>
          <a:xfrm>
            <a:off x="457200" y="384048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47548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גבולות הדמוקרטיה  ›  מעצר מנהלי</a:t>
            </a:r>
            <a:endParaRPr lang="he-IL" sz="1200" dirty="0"/>
          </a:p>
        </p:txBody>
      </p:sp>
      <p:sp>
        <p:nvSpPr>
          <p:cNvPr id="6" name="Shape 3"/>
          <p:cNvSpPr/>
          <p:nvPr/>
        </p:nvSpPr>
        <p:spPr>
          <a:xfrm>
            <a:off x="7528255" y="1143000"/>
            <a:ext cx="4206240" cy="438912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1225296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619695" y="114300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בגרות חורף תשפ"ד • שאלון 34281</a:t>
            </a:r>
            <a:endParaRPr lang="he-IL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1143000"/>
            <a:ext cx="68881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100" i="1" dirty="0">
                <a:solidFill>
                  <a:srgbClr val="5D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סעיף ההצגה בלבד • תשובה לפי פתרון גבע (לא רשמי)</a:t>
            </a:r>
            <a:endParaRPr lang="he-IL" sz="1100" dirty="0"/>
          </a:p>
        </p:txBody>
      </p:sp>
      <p:sp>
        <p:nvSpPr>
          <p:cNvPr id="10" name="Shape 6"/>
          <p:cNvSpPr/>
          <p:nvPr/>
        </p:nvSpPr>
        <p:spPr>
          <a:xfrm>
            <a:off x="6613855" y="1783080"/>
            <a:ext cx="5120640" cy="4526280"/>
          </a:xfrm>
          <a:prstGeom prst="roundRect">
            <a:avLst>
              <a:gd name="adj" fmla="val 2424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751015" y="18928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השאלה</a:t>
            </a:r>
            <a:endParaRPr lang="he-IL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751015" y="2322576"/>
            <a:ext cx="4846320" cy="3913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השאלה עסקה במקרה של מעצר מנהלי.</a:t>
            </a:r>
            <a:endParaRPr lang="he-IL" sz="1700" dirty="0"/>
          </a:p>
          <a:p>
            <a:pPr rtl="1" algn="r" indent="0" marL="0">
              <a:spcAft>
                <a:spcPts val="400"/>
              </a:spcAft>
              <a:buNone/>
            </a:pPr>
            <a:endParaRPr lang="he-IL" sz="1700" dirty="0"/>
          </a:p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הציגו את המושג מעצר מנהלי.</a:t>
            </a:r>
            <a:endParaRPr lang="he-IL" sz="1700" dirty="0"/>
          </a:p>
          <a:p>
            <a:pPr rtl="1" algn="r" indent="0" marL="0">
              <a:spcAft>
                <a:spcPts val="400"/>
              </a:spcAft>
              <a:buNone/>
            </a:pPr>
            <a:endParaRPr lang="he-IL" sz="1700" dirty="0"/>
          </a:p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(שאלה דומה: חורף תשפ"ב, שאלה 6, שבה נדרש להסביר באיזו זכות פוגע המעצר המנהלי)</a:t>
            </a:r>
            <a:endParaRPr lang="he-IL" sz="1700" dirty="0"/>
          </a:p>
        </p:txBody>
      </p:sp>
      <p:sp>
        <p:nvSpPr>
          <p:cNvPr id="13" name="Shape 9"/>
          <p:cNvSpPr/>
          <p:nvPr/>
        </p:nvSpPr>
        <p:spPr>
          <a:xfrm>
            <a:off x="457200" y="1783080"/>
            <a:ext cx="5882335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94360" y="1892808"/>
            <a:ext cx="5608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תשובה לדוגמה</a:t>
            </a:r>
            <a:endParaRPr lang="he-IL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594360" y="2322576"/>
            <a:ext cx="5608015" cy="3913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77800" indent="-177800">
              <a:spcAft>
                <a:spcPts val="1400"/>
              </a:spcAft>
              <a:buSzPct val="100000"/>
              <a:buChar char="•"/>
            </a:pPr>
            <a:r>
              <a:rPr lang="he-IL" altLang="en-US" sz="17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הצג: </a:t>
            </a:r>
            <a:pPr rtl="1" algn="r" indent="0" marL="0">
              <a:spcAft>
                <a:spcPts val="1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מעצר מניעתי מיידי שמטילה הרשות המבצעת, בלי משפט ובלי כתב אישום, כדי למנוע פגיעה בביטחון המדינה או הציבור לפני שבוצעה עבירה</a:t>
            </a:r>
            <a:endParaRPr lang="he-IL" sz="1700" dirty="0"/>
          </a:p>
          <a:p>
            <a:pPr rtl="1" algn="r" marL="177800" indent="-177800">
              <a:spcAft>
                <a:spcPts val="1400"/>
              </a:spcAft>
              <a:buSzPct val="100000"/>
              <a:buChar char="•"/>
            </a:pPr>
            <a:r>
              <a:rPr lang="he-IL" altLang="en-US" sz="17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הגבלות: </a:t>
            </a:r>
            <a:pPr rtl="1" algn="r" indent="0" marL="0">
              <a:spcAft>
                <a:spcPts val="1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 6 חודשים (ניתן לחידוש), בסמכות שר הביטחון, ובביקורת שיפוטית</a:t>
            </a:r>
            <a:endParaRPr lang="he-IL" sz="1700" dirty="0"/>
          </a:p>
          <a:p>
            <a:pPr rtl="1" algn="r" marL="177800" indent="-177800">
              <a:spcAft>
                <a:spcPts val="1400"/>
              </a:spcAft>
              <a:buSzPct val="100000"/>
              <a:buChar char="•"/>
            </a:pPr>
            <a:r>
              <a:rPr lang="he-IL" altLang="en-US" sz="17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בחורף תשפ"ב: </a:t>
            </a:r>
            <a:pPr rtl="1" algn="r" indent="0" marL="0">
              <a:spcAft>
                <a:spcPts val="1400"/>
              </a:spcAft>
              <a:buNone/>
            </a:pPr>
            <a:r>
              <a:rPr lang="he-IL" alt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פוגע בזכות להליך הוגן: העצור לא רואה את הראיות ולא מקבל את ההגנות המשפטיות הרגילות</a:t>
            </a:r>
            <a:endParaRPr lang="he-IL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חזרה מהירה: מושג אחד, משפט אחד</a:t>
            </a:r>
            <a:endParaRPr lang="he-IL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277295" cy="621792"/>
          </a:xfrm>
          <a:prstGeom prst="roundRect">
            <a:avLst>
              <a:gd name="adj" fmla="val 14706"/>
            </a:avLst>
          </a:prstGeom>
          <a:solidFill>
            <a:srgbClr val="F3ECE4"/>
          </a:solidFill>
          <a:ln w="12700">
            <a:solidFill>
              <a:srgbClr val="F3EC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08415" y="1143000"/>
            <a:ext cx="2926080" cy="621792"/>
          </a:xfrm>
          <a:prstGeom prst="roundRect">
            <a:avLst>
              <a:gd name="adj" fmla="val 14706"/>
            </a:avLst>
          </a:prstGeom>
          <a:solidFill>
            <a:srgbClr val="7B5B3A"/>
          </a:solidFill>
          <a:ln w="12700">
            <a:solidFill>
              <a:srgbClr val="7B5B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99855" y="114300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הכרזת העצמאות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143000"/>
            <a:ext cx="807689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היסטורי • מעשי • הצהרתי; הצדקות היסטוריות, בינלאומיות, טבעית</a:t>
            </a:r>
            <a:endParaRPr lang="he-IL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1277295" cy="621792"/>
          </a:xfrm>
          <a:prstGeom prst="roundRect">
            <a:avLst>
              <a:gd name="adj" fmla="val 14706"/>
            </a:avLst>
          </a:prstGeom>
          <a:solidFill>
            <a:srgbClr val="E7EFFA"/>
          </a:solidFill>
          <a:ln w="12700">
            <a:solidFill>
              <a:srgbClr val="E7EF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08415" y="1874520"/>
            <a:ext cx="2926080" cy="621792"/>
          </a:xfrm>
          <a:prstGeom prst="roundRect">
            <a:avLst>
              <a:gd name="adj" fmla="val 14706"/>
            </a:avLst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899855" y="187452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שלטון העם</a:t>
            </a:r>
            <a:endParaRPr lang="he-IL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874520"/>
            <a:ext cx="807689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בחירות כְּשִׂמְחָה; שיטה אי"ר; רוב מחליט אך לא פוגע במיעוט</a:t>
            </a:r>
            <a:endParaRPr lang="he-IL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11277295" cy="621792"/>
          </a:xfrm>
          <a:prstGeom prst="roundRect">
            <a:avLst>
              <a:gd name="adj" fmla="val 14706"/>
            </a:avLst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08415" y="2606040"/>
            <a:ext cx="2926080" cy="621792"/>
          </a:xfrm>
          <a:prstGeom prst="roundRect">
            <a:avLst>
              <a:gd name="adj" fmla="val 14706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99855" y="260604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תרבות פוליטית</a:t>
            </a:r>
            <a:endParaRPr lang="he-IL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2606040"/>
            <a:ext cx="807689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סַפָּ"ה: סובלנות, פלורליזם, הסכמיות</a:t>
            </a:r>
            <a:endParaRPr lang="he-IL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11277295" cy="621792"/>
          </a:xfrm>
          <a:prstGeom prst="roundRect">
            <a:avLst>
              <a:gd name="adj" fmla="val 14706"/>
            </a:avLst>
          </a:prstGeom>
          <a:solidFill>
            <a:srgbClr val="F1E8F6"/>
          </a:solidFill>
          <a:ln w="12700">
            <a:solidFill>
              <a:srgbClr val="F1E8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08415" y="3337560"/>
            <a:ext cx="2926080" cy="621792"/>
          </a:xfrm>
          <a:prstGeom prst="roundRect">
            <a:avLst>
              <a:gd name="adj" fmla="val 14706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99855" y="333756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הגבלת השלטון</a:t>
            </a:r>
            <a:endParaRPr lang="he-IL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337560"/>
            <a:ext cx="807689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הפרדת רשויות + פיקוח; החוק מעל כולם; בעליל = לא מצייתים</a:t>
            </a:r>
            <a:endParaRPr lang="he-IL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11277295" cy="621792"/>
          </a:xfrm>
          <a:prstGeom prst="roundRect">
            <a:avLst>
              <a:gd name="adj" fmla="val 14706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08415" y="4069080"/>
            <a:ext cx="2926080" cy="621792"/>
          </a:xfrm>
          <a:prstGeom prst="roundRect">
            <a:avLst>
              <a:gd name="adj" fmla="val 14706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99855" y="406908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זכויות</a:t>
            </a:r>
            <a:endParaRPr lang="he-IL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4069080"/>
            <a:ext cx="807689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טבעיות • פוליטיות • חברתיות-כלכליות • קבוצתיות; אפליה / הבחנה / העדפה מתקנת</a:t>
            </a:r>
            <a:endParaRPr lang="he-IL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4800600"/>
            <a:ext cx="11277295" cy="621792"/>
          </a:xfrm>
          <a:prstGeom prst="roundRect">
            <a:avLst>
              <a:gd name="adj" fmla="val 14706"/>
            </a:avLst>
          </a:prstGeom>
          <a:solidFill>
            <a:srgbClr val="FCEFE3"/>
          </a:solidFill>
          <a:ln w="12700">
            <a:solidFill>
              <a:srgbClr val="FCEF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08415" y="4800600"/>
            <a:ext cx="2926080" cy="621792"/>
          </a:xfrm>
          <a:prstGeom prst="roundRect">
            <a:avLst>
              <a:gd name="adj" fmla="val 14706"/>
            </a:avLst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899855" y="480060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גישות כלכליות</a:t>
            </a:r>
            <a:endParaRPr lang="he-IL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4800600"/>
            <a:ext cx="807689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שוק וחירות (ניאו-ליברלית) מול מדינה ושוויון (סוציאל-דמוקרטית)</a:t>
            </a:r>
            <a:endParaRPr lang="he-IL" sz="1500" dirty="0"/>
          </a:p>
        </p:txBody>
      </p:sp>
      <p:sp>
        <p:nvSpPr>
          <p:cNvPr id="27" name="Shape 25"/>
          <p:cNvSpPr/>
          <p:nvPr/>
        </p:nvSpPr>
        <p:spPr>
          <a:xfrm>
            <a:off x="457200" y="5532120"/>
            <a:ext cx="11277295" cy="621792"/>
          </a:xfrm>
          <a:prstGeom prst="roundRect">
            <a:avLst>
              <a:gd name="adj" fmla="val 14706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08415" y="5532120"/>
            <a:ext cx="2926080" cy="621792"/>
          </a:xfrm>
          <a:prstGeom prst="roundRect">
            <a:avLst>
              <a:gd name="adj" fmla="val 14706"/>
            </a:avLst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899855" y="553212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גבולות הדמוקרטיה</a:t>
            </a:r>
            <a:endParaRPr lang="he-IL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5532120"/>
            <a:ext cx="807689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אבסולוטית מול מתגוננת; 7א: שלילה, הסתה, טרור; חירום ומעצר מנהלי</a:t>
            </a:r>
            <a:endParaRPr lang="he-IL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263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5D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בהצלחה במבחן! 💪</a:t>
            </a:r>
            <a:endParaRPr lang="he-IL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vics Study">
  <a:themeElements>
    <a:clrScheme name="Civics Study">
      <a:dk1>
        <a:srgbClr val="1F2430"/>
      </a:dk1>
      <a:lt1>
        <a:srgbClr val="FFFFFF"/>
      </a:lt1>
      <a:dk2>
        <a:srgbClr val="2C3E50"/>
      </a:dk2>
      <a:lt2>
        <a:srgbClr val="F4F6F8"/>
      </a:lt2>
      <a:accent1>
        <a:srgbClr val="1F5FAD"/>
      </a:accent1>
      <a:accent2>
        <a:srgbClr val="1E8449"/>
      </a:accent2>
      <a:accent3>
        <a:srgbClr val="6C3483"/>
      </a:accent3>
      <a:accent4>
        <a:srgbClr val="B03A2E"/>
      </a:accent4>
      <a:accent5>
        <a:srgbClr val="CA6F1E"/>
      </a:accent5>
      <a:accent6>
        <a:srgbClr val="7B5B3A"/>
      </a:accent6>
      <a:hlink>
        <a:srgbClr val="1F5FAD"/>
      </a:hlink>
      <a:folHlink>
        <a:srgbClr val="6C3483"/>
      </a:folHlink>
    </a:clrScheme>
    <a:fontScheme name="Civics Stud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סיכום מושגים למבחן הראשון באזרחות</dc:title>
  <dc:subject>PptxGenJS Presentation</dc:subject>
  <dc:creator>PptxGenJS</dc:creator>
  <cp:lastModifiedBy>PptxGenJS</cp:lastModifiedBy>
  <cp:revision>1</cp:revision>
  <dcterms:created xsi:type="dcterms:W3CDTF">2026-10-17T11:33:58Z</dcterms:created>
  <dcterms:modified xsi:type="dcterms:W3CDTF">2026-10-17T11:33:58Z</dcterms:modified>
</cp:coreProperties>
</file>